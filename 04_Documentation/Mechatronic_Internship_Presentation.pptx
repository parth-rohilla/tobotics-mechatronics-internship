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30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2.jp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1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6858000" cy="5943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3400" b="1" i="0">
                <a:solidFill>
                  <a:srgbClr val="F5F8FC"/>
                </a:solidFill>
                <a:latin typeface="Aptos"/>
              </a:rPr>
              <a:t>MECHATRONIC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98448"/>
            <a:ext cx="6583680" cy="5029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2700" b="1" i="0">
                <a:solidFill>
                  <a:srgbClr val="32C8DC"/>
                </a:solidFill>
                <a:latin typeface="Aptos"/>
              </a:rPr>
              <a:t>at Tobotics Pvt. Ltd.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938528"/>
            <a:ext cx="6217920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400" b="0" i="0">
                <a:solidFill>
                  <a:srgbClr val="AAB8C7"/>
                </a:solidFill>
                <a:latin typeface="Aptos"/>
              </a:rPr>
              <a:t>Industrial Training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743200"/>
            <a:ext cx="5212080" cy="658368"/>
          </a:xfrm>
          <a:prstGeom prst="roundRect">
            <a:avLst>
              <a:gd name="adj" fmla="val 0"/>
            </a:avLst>
          </a:prstGeom>
          <a:solidFill>
            <a:srgbClr val="18293E"/>
          </a:solidFill>
          <a:ln>
            <a:solidFill>
              <a:srgbClr val="2B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2743200"/>
            <a:ext cx="50292" cy="658368"/>
          </a:xfrm>
          <a:prstGeom prst="rect">
            <a:avLst/>
          </a:prstGeom>
          <a:solidFill>
            <a:srgbClr val="F5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2852928"/>
            <a:ext cx="4937760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F5F8FC"/>
                </a:solidFill>
                <a:latin typeface="Aptos"/>
              </a:rPr>
              <a:t>PARTH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218688"/>
            <a:ext cx="4937760" cy="91439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AAB8C7"/>
                </a:solidFill>
                <a:latin typeface="Aptos"/>
              </a:rPr>
              <a:t>B.Tech. Electronics &amp; Communication Engineering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520440"/>
            <a:ext cx="5212080" cy="658368"/>
          </a:xfrm>
          <a:prstGeom prst="roundRect">
            <a:avLst>
              <a:gd name="adj" fmla="val 0"/>
            </a:avLst>
          </a:prstGeom>
          <a:solidFill>
            <a:srgbClr val="18293E"/>
          </a:solidFill>
          <a:ln>
            <a:solidFill>
              <a:srgbClr val="2B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3520440"/>
            <a:ext cx="50292" cy="658368"/>
          </a:xfrm>
          <a:prstGeom prst="rect">
            <a:avLst/>
          </a:prstGeom>
          <a:solidFill>
            <a:srgbClr val="32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3630168"/>
            <a:ext cx="4937760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F5F8FC"/>
                </a:solidFill>
                <a:latin typeface="Aptos"/>
              </a:rPr>
              <a:t>ROLL NO.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995928"/>
            <a:ext cx="4937760" cy="91439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0" i="0" dirty="0">
                <a:solidFill>
                  <a:srgbClr val="AAB8C7"/>
                </a:solidFill>
                <a:latin typeface="Aptos"/>
              </a:rPr>
              <a:t>24EJCEC078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297680"/>
            <a:ext cx="5212080" cy="658368"/>
          </a:xfrm>
          <a:prstGeom prst="roundRect">
            <a:avLst>
              <a:gd name="adj" fmla="val 0"/>
            </a:avLst>
          </a:prstGeom>
          <a:solidFill>
            <a:srgbClr val="18293E"/>
          </a:solidFill>
          <a:ln>
            <a:solidFill>
              <a:srgbClr val="2B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4297680"/>
            <a:ext cx="50292" cy="658368"/>
          </a:xfrm>
          <a:prstGeom prst="rect">
            <a:avLst/>
          </a:prstGeom>
          <a:solidFill>
            <a:srgbClr val="4CB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" y="4407408"/>
            <a:ext cx="4937760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600" b="1" i="0">
                <a:solidFill>
                  <a:srgbClr val="F5F8FC"/>
                </a:solidFill>
                <a:latin typeface="Aptos"/>
              </a:rPr>
              <a:t>COORDINATOR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773168"/>
            <a:ext cx="4937760" cy="91439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AB8C7"/>
                </a:solidFill>
                <a:latin typeface="Aptos"/>
              </a:rPr>
              <a:t>Ashish Kumar Sharma — Assistant Professor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85232"/>
            <a:ext cx="5669280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150" b="0" i="0">
                <a:solidFill>
                  <a:srgbClr val="AAB8C7"/>
                </a:solidFill>
                <a:latin typeface="Aptos"/>
              </a:rPr>
              <a:t>45-Day Industrial Training  •  Academic Year 2026–27</a:t>
            </a:r>
          </a:p>
        </p:txBody>
      </p:sp>
      <p:pic>
        <p:nvPicPr>
          <p:cNvPr id="19" name="Picture 18" descr="overall vault design CAD.png"/>
          <p:cNvPicPr>
            <a:picLocks noChangeAspect="1"/>
          </p:cNvPicPr>
          <p:nvPr/>
        </p:nvPicPr>
        <p:blipFill>
          <a:blip r:embed="rId2"/>
          <a:srcRect t="4479" b="4479"/>
          <a:stretch>
            <a:fillRect/>
          </a:stretch>
        </p:blipFill>
        <p:spPr>
          <a:xfrm>
            <a:off x="6629400" y="594360"/>
            <a:ext cx="4892040" cy="2971800"/>
          </a:xfrm>
          <a:prstGeom prst="rect">
            <a:avLst/>
          </a:prstGeom>
          <a:ln w="12700">
            <a:solidFill>
              <a:srgbClr val="465A73"/>
            </a:solidFill>
          </a:ln>
        </p:spPr>
      </p:pic>
      <p:pic>
        <p:nvPicPr>
          <p:cNvPr id="20" name="Picture 19" descr="3d printed piston cup.jpg"/>
          <p:cNvPicPr>
            <a:picLocks noChangeAspect="1"/>
          </p:cNvPicPr>
          <p:nvPr/>
        </p:nvPicPr>
        <p:blipFill>
          <a:blip r:embed="rId3"/>
          <a:srcRect l="7000" r="7000"/>
          <a:stretch>
            <a:fillRect/>
          </a:stretch>
        </p:blipFill>
        <p:spPr>
          <a:xfrm rot="5400000">
            <a:off x="6807454" y="3525266"/>
            <a:ext cx="2057400" cy="2413508"/>
          </a:xfrm>
          <a:prstGeom prst="rect">
            <a:avLst/>
          </a:prstGeom>
          <a:ln w="12700">
            <a:solidFill>
              <a:srgbClr val="465A73"/>
            </a:solidFill>
          </a:ln>
        </p:spPr>
      </p:pic>
      <p:pic>
        <p:nvPicPr>
          <p:cNvPr id="21" name="Picture 20" descr="front panel mechanism CAD.png"/>
          <p:cNvPicPr>
            <a:picLocks noChangeAspect="1"/>
          </p:cNvPicPr>
          <p:nvPr/>
        </p:nvPicPr>
        <p:blipFill>
          <a:blip r:embed="rId4"/>
          <a:srcRect l="19654" r="19654"/>
          <a:stretch>
            <a:fillRect/>
          </a:stretch>
        </p:blipFill>
        <p:spPr>
          <a:xfrm>
            <a:off x="9162288" y="3703320"/>
            <a:ext cx="2359152" cy="2057400"/>
          </a:xfrm>
          <a:prstGeom prst="rect">
            <a:avLst/>
          </a:prstGeom>
          <a:ln w="12700">
            <a:solidFill>
              <a:srgbClr val="465A73"/>
            </a:solidFill>
          </a:ln>
        </p:spPr>
      </p:pic>
      <p:pic>
        <p:nvPicPr>
          <p:cNvPr id="22" name="Picture 21" descr="jecrc_logo.png"/>
          <p:cNvPicPr>
            <a:picLocks noChangeAspect="1"/>
          </p:cNvPicPr>
          <p:nvPr/>
        </p:nvPicPr>
        <p:blipFill>
          <a:blip r:embed="rId5"/>
          <a:srcRect t="24330" b="24330"/>
          <a:stretch>
            <a:fillRect/>
          </a:stretch>
        </p:blipFill>
        <p:spPr>
          <a:xfrm>
            <a:off x="9281160" y="164592"/>
            <a:ext cx="2011680" cy="5029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94360" y="6473952"/>
            <a:ext cx="10424160" cy="20116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850" b="0" i="0">
                <a:solidFill>
                  <a:srgbClr val="AAB8C7"/>
                </a:solidFill>
                <a:latin typeface="Aptos"/>
              </a:rPr>
              <a:t>Mechatronic Internship at Tobotics Pvt. Ltd.  |  Parth  |  24EJCEC078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r"/>
            <a:r>
              <a:rPr sz="900" b="1" i="0">
                <a:solidFill>
                  <a:srgbClr val="AAB8C7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2800" b="1" i="0">
                <a:solidFill>
                  <a:srgbClr val="F5F8FC"/>
                </a:solidFill>
                <a:latin typeface="Aptos"/>
              </a:rPr>
              <a:t>Training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96112"/>
            <a:ext cx="1051560" cy="41148"/>
          </a:xfrm>
          <a:prstGeom prst="rect">
            <a:avLst/>
          </a:prstGeom>
          <a:solidFill>
            <a:srgbClr val="32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789920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150" b="0" i="0">
                <a:solidFill>
                  <a:srgbClr val="AAB8C7"/>
                </a:solidFill>
                <a:latin typeface="Aptos"/>
              </a:rPr>
              <a:t>Practical exposure across electronics, programming, mechatronics and mechanical prototyping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337560" cy="1874519"/>
          </a:xfrm>
          <a:prstGeom prst="roundRect">
            <a:avLst>
              <a:gd name="adj" fmla="val 0"/>
            </a:avLst>
          </a:prstGeom>
          <a:solidFill>
            <a:srgbClr val="18293E"/>
          </a:solidFill>
          <a:ln>
            <a:solidFill>
              <a:srgbClr val="2B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417321"/>
            <a:ext cx="54864" cy="1874518"/>
          </a:xfrm>
          <a:prstGeom prst="rect">
            <a:avLst/>
          </a:prstGeom>
          <a:solidFill>
            <a:srgbClr val="32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527048"/>
            <a:ext cx="3063240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600" b="1" i="0">
                <a:solidFill>
                  <a:srgbClr val="F5F8FC"/>
                </a:solidFill>
                <a:latin typeface="Aptos"/>
              </a:rPr>
              <a:t>TRAINING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92808"/>
            <a:ext cx="3090672" cy="5678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sz="1150" b="0" i="0" dirty="0">
                <a:solidFill>
                  <a:srgbClr val="AAB8C7"/>
                </a:solidFill>
                <a:latin typeface="Aptos"/>
              </a:rPr>
              <a:t>45-day industrial training in a practical, project-oriented environment with mentors and fellow trainees.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417320"/>
            <a:ext cx="3337560" cy="1874519"/>
          </a:xfrm>
          <a:prstGeom prst="roundRect">
            <a:avLst>
              <a:gd name="adj" fmla="val 0"/>
            </a:avLst>
          </a:prstGeom>
          <a:solidFill>
            <a:srgbClr val="18293E"/>
          </a:solidFill>
          <a:ln>
            <a:solidFill>
              <a:srgbClr val="2B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60520" y="1417321"/>
            <a:ext cx="50292" cy="1874518"/>
          </a:xfrm>
          <a:prstGeom prst="rect">
            <a:avLst/>
          </a:prstGeom>
          <a:solidFill>
            <a:srgbClr val="F5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25112" y="1527048"/>
            <a:ext cx="3063240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600" b="1" i="0">
                <a:solidFill>
                  <a:srgbClr val="F5F8FC"/>
                </a:solidFill>
                <a:latin typeface="Aptos"/>
              </a:rPr>
              <a:t>MAIN 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5112" y="1892808"/>
            <a:ext cx="3012948" cy="5678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50" b="0" i="0" dirty="0">
                <a:solidFill>
                  <a:srgbClr val="AAB8C7"/>
                </a:solidFill>
                <a:latin typeface="Aptos"/>
              </a:rPr>
              <a:t>Arduino-based electronics, embedded programming, CAD modelling, 3D design, simulation and prototyping.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1417320"/>
            <a:ext cx="3840480" cy="1874519"/>
          </a:xfrm>
          <a:prstGeom prst="roundRect">
            <a:avLst>
              <a:gd name="adj" fmla="val 0"/>
            </a:avLst>
          </a:prstGeom>
          <a:solidFill>
            <a:srgbClr val="18293E"/>
          </a:solidFill>
          <a:ln>
            <a:solidFill>
              <a:srgbClr val="2B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26679" y="1417320"/>
            <a:ext cx="50292" cy="1874519"/>
          </a:xfrm>
          <a:prstGeom prst="rect">
            <a:avLst/>
          </a:prstGeom>
          <a:solidFill>
            <a:srgbClr val="4CB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91271" y="1527048"/>
            <a:ext cx="3566160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600" b="1" i="0">
                <a:solidFill>
                  <a:srgbClr val="F5F8FC"/>
                </a:solidFill>
                <a:latin typeface="Aptos"/>
              </a:rPr>
              <a:t>MAJOR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1271" y="1892808"/>
            <a:ext cx="3442717" cy="5678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50" b="0" i="0" dirty="0">
                <a:solidFill>
                  <a:srgbClr val="AAB8C7"/>
                </a:solidFill>
                <a:latin typeface="Aptos"/>
              </a:rPr>
              <a:t>Hackable Vault — an interactive security-vault concept combining keypad input, feedback and servo-controlled mechanical movement.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57600"/>
            <a:ext cx="2377440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800" b="1" i="0">
                <a:solidFill>
                  <a:srgbClr val="F5F8FC"/>
                </a:solidFill>
                <a:latin typeface="Aptos"/>
              </a:rPr>
              <a:t>Training objectives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041648"/>
            <a:ext cx="6400800" cy="1737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Understand Arduino programming and input/output interfacing</a:t>
            </a:r>
          </a:p>
          <a:p>
            <a:pPr>
              <a:spcAft>
                <a:spcPts val="4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Control actuators and test electronic behaviour through simulation</a:t>
            </a:r>
          </a:p>
          <a:p>
            <a:pPr>
              <a:spcAft>
                <a:spcPts val="4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Create mechanical models using CAD and understand CAD-to-print workflow</a:t>
            </a:r>
          </a:p>
          <a:p>
            <a:pPr>
              <a:spcAft>
                <a:spcPts val="4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Develop an integrated project through experimentation and design iteration</a:t>
            </a:r>
          </a:p>
        </p:txBody>
      </p:sp>
      <p:pic>
        <p:nvPicPr>
          <p:cNvPr id="20" name="Picture 19" descr="hackabke_vault_reference.png"/>
          <p:cNvPicPr>
            <a:picLocks noChangeAspect="1"/>
          </p:cNvPicPr>
          <p:nvPr/>
        </p:nvPicPr>
        <p:blipFill>
          <a:blip r:embed="rId2"/>
          <a:srcRect t="7734" b="7734"/>
          <a:stretch>
            <a:fillRect/>
          </a:stretch>
        </p:blipFill>
        <p:spPr>
          <a:xfrm>
            <a:off x="8229600" y="3657600"/>
            <a:ext cx="3291840" cy="2331720"/>
          </a:xfrm>
          <a:prstGeom prst="rect">
            <a:avLst/>
          </a:prstGeom>
          <a:ln w="12700">
            <a:solidFill>
              <a:srgbClr val="465A73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594360" y="6473952"/>
            <a:ext cx="10424160" cy="20116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850" b="0" i="0">
                <a:solidFill>
                  <a:srgbClr val="AAB8C7"/>
                </a:solidFill>
                <a:latin typeface="Aptos"/>
              </a:rPr>
              <a:t>Mechatronic Internship at Tobotics Pvt. Ltd.  |  Parth  |  24EJCEC078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r"/>
            <a:r>
              <a:rPr sz="900" b="1" i="0">
                <a:solidFill>
                  <a:srgbClr val="AAB8C7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2800" b="1" i="0">
                <a:solidFill>
                  <a:srgbClr val="F5F8FC"/>
                </a:solidFill>
                <a:latin typeface="Aptos"/>
              </a:rPr>
              <a:t>Training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96112"/>
            <a:ext cx="1051560" cy="41148"/>
          </a:xfrm>
          <a:prstGeom prst="rect">
            <a:avLst/>
          </a:prstGeom>
          <a:solidFill>
            <a:srgbClr val="32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789920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150" b="0" i="0">
                <a:solidFill>
                  <a:srgbClr val="AAB8C7"/>
                </a:solidFill>
                <a:latin typeface="Aptos"/>
              </a:rPr>
              <a:t>The work progressed from small electronics exercises to an integrated mechatronic prototype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874519"/>
            <a:ext cx="713232" cy="713232"/>
          </a:xfrm>
          <a:prstGeom prst="ellipse">
            <a:avLst/>
          </a:prstGeom>
          <a:solidFill>
            <a:srgbClr val="32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901951"/>
            <a:ext cx="621792" cy="65836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F5F8FC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24912"/>
            <a:ext cx="1234440" cy="64008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5F8FC"/>
                </a:solidFill>
                <a:latin typeface="Aptos"/>
              </a:rPr>
              <a:t>Arduino
&amp; Electronics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35607" y="2231136"/>
            <a:ext cx="1490473" cy="0"/>
          </a:xfrm>
          <a:prstGeom prst="line">
            <a:avLst/>
          </a:prstGeom>
          <a:ln w="25400">
            <a:solidFill>
              <a:srgbClr val="AAB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971800" y="1874519"/>
            <a:ext cx="713232" cy="713232"/>
          </a:xfrm>
          <a:prstGeom prst="ellipse">
            <a:avLst/>
          </a:prstGeom>
          <a:solidFill>
            <a:srgbClr val="32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17520" y="1901951"/>
            <a:ext cx="621792" cy="65836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F5F8FC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724912"/>
            <a:ext cx="1234440" cy="64008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5F8FC"/>
                </a:solidFill>
                <a:latin typeface="Aptos"/>
              </a:rPr>
              <a:t>Programming
&amp; Interfacing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721608" y="2231136"/>
            <a:ext cx="1490472" cy="0"/>
          </a:xfrm>
          <a:prstGeom prst="line">
            <a:avLst/>
          </a:prstGeom>
          <a:ln w="25400">
            <a:solidFill>
              <a:srgbClr val="AAB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257800" y="1874519"/>
            <a:ext cx="713232" cy="713232"/>
          </a:xfrm>
          <a:prstGeom prst="ellipse">
            <a:avLst/>
          </a:prstGeom>
          <a:solidFill>
            <a:srgbClr val="F5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3520" y="1901951"/>
            <a:ext cx="621792" cy="65836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F5F8FC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724912"/>
            <a:ext cx="1234440" cy="64008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5F8FC"/>
                </a:solidFill>
                <a:latin typeface="Aptos"/>
              </a:rPr>
              <a:t>CAD
Modelling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07608" y="2231136"/>
            <a:ext cx="1490471" cy="0"/>
          </a:xfrm>
          <a:prstGeom prst="line">
            <a:avLst/>
          </a:prstGeom>
          <a:ln w="25400">
            <a:solidFill>
              <a:srgbClr val="AAB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543800" y="1874519"/>
            <a:ext cx="713232" cy="713232"/>
          </a:xfrm>
          <a:prstGeom prst="ellipse">
            <a:avLst/>
          </a:prstGeom>
          <a:solidFill>
            <a:srgbClr val="F5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0" y="1901951"/>
            <a:ext cx="621792" cy="65836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F5F8FC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724912"/>
            <a:ext cx="1234440" cy="64008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5F8FC"/>
                </a:solidFill>
                <a:latin typeface="Aptos"/>
              </a:rPr>
              <a:t>3D Printing
&amp; Physical Parts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93608" y="2231136"/>
            <a:ext cx="1490472" cy="0"/>
          </a:xfrm>
          <a:prstGeom prst="line">
            <a:avLst/>
          </a:prstGeom>
          <a:ln w="25400">
            <a:solidFill>
              <a:srgbClr val="AAB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9829800" y="1874519"/>
            <a:ext cx="713232" cy="713232"/>
          </a:xfrm>
          <a:prstGeom prst="ellipse">
            <a:avLst/>
          </a:prstGeom>
          <a:solidFill>
            <a:srgbClr val="4CB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75520" y="1901951"/>
            <a:ext cx="621792" cy="65836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F5F8FC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724912"/>
            <a:ext cx="1234440" cy="64008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5F8FC"/>
                </a:solidFill>
                <a:latin typeface="Aptos"/>
              </a:rPr>
              <a:t>Hackable Vault
Development</a:t>
            </a:r>
          </a:p>
        </p:txBody>
      </p:sp>
      <p:pic>
        <p:nvPicPr>
          <p:cNvPr id="25" name="Picture 24" descr="debouncer circuit.png"/>
          <p:cNvPicPr>
            <a:picLocks noChangeAspect="1"/>
          </p:cNvPicPr>
          <p:nvPr/>
        </p:nvPicPr>
        <p:blipFill>
          <a:blip r:embed="rId2"/>
          <a:srcRect l="2029" r="2029"/>
          <a:stretch>
            <a:fillRect/>
          </a:stretch>
        </p:blipFill>
        <p:spPr>
          <a:xfrm>
            <a:off x="685800" y="3886200"/>
            <a:ext cx="2057400" cy="1600200"/>
          </a:xfrm>
          <a:prstGeom prst="rect">
            <a:avLst/>
          </a:prstGeom>
          <a:ln w="12700">
            <a:solidFill>
              <a:srgbClr val="465A73"/>
            </a:solidFill>
          </a:ln>
        </p:spPr>
      </p:pic>
      <p:pic>
        <p:nvPicPr>
          <p:cNvPr id="26" name="Picture 25" descr="minor project gate in gate out.png"/>
          <p:cNvPicPr>
            <a:picLocks noChangeAspect="1"/>
          </p:cNvPicPr>
          <p:nvPr/>
        </p:nvPicPr>
        <p:blipFill>
          <a:blip r:embed="rId3"/>
          <a:srcRect l="3903" r="3903"/>
          <a:stretch>
            <a:fillRect/>
          </a:stretch>
        </p:blipFill>
        <p:spPr>
          <a:xfrm>
            <a:off x="2907792" y="3886200"/>
            <a:ext cx="2057400" cy="1600200"/>
          </a:xfrm>
          <a:prstGeom prst="rect">
            <a:avLst/>
          </a:prstGeom>
          <a:ln w="12700">
            <a:solidFill>
              <a:srgbClr val="465A73"/>
            </a:solidFill>
          </a:ln>
        </p:spPr>
      </p:pic>
      <p:pic>
        <p:nvPicPr>
          <p:cNvPr id="27" name="Picture 26" descr="phone holder v2 CAD.png"/>
          <p:cNvPicPr>
            <a:picLocks noChangeAspect="1"/>
          </p:cNvPicPr>
          <p:nvPr/>
        </p:nvPicPr>
        <p:blipFill>
          <a:blip r:embed="rId4"/>
          <a:srcRect t="26223" b="26223"/>
          <a:stretch>
            <a:fillRect/>
          </a:stretch>
        </p:blipFill>
        <p:spPr>
          <a:xfrm>
            <a:off x="5129784" y="3886200"/>
            <a:ext cx="2057400" cy="1600200"/>
          </a:xfrm>
          <a:prstGeom prst="rect">
            <a:avLst/>
          </a:prstGeom>
          <a:ln w="12700">
            <a:solidFill>
              <a:srgbClr val="465A73"/>
            </a:solidFill>
          </a:ln>
        </p:spPr>
      </p:pic>
      <p:pic>
        <p:nvPicPr>
          <p:cNvPr id="28" name="Picture 27" descr="3d printed piston cup.jpg"/>
          <p:cNvPicPr>
            <a:picLocks noChangeAspect="1"/>
          </p:cNvPicPr>
          <p:nvPr/>
        </p:nvPicPr>
        <p:blipFill>
          <a:blip r:embed="rId5"/>
          <a:srcRect l="1786" r="1786"/>
          <a:stretch>
            <a:fillRect/>
          </a:stretch>
        </p:blipFill>
        <p:spPr>
          <a:xfrm>
            <a:off x="7351775" y="3886200"/>
            <a:ext cx="2057400" cy="1600200"/>
          </a:xfrm>
          <a:prstGeom prst="rect">
            <a:avLst/>
          </a:prstGeom>
          <a:ln w="12700">
            <a:solidFill>
              <a:srgbClr val="465A73"/>
            </a:solidFill>
          </a:ln>
        </p:spPr>
      </p:pic>
      <p:pic>
        <p:nvPicPr>
          <p:cNvPr id="29" name="Picture 28" descr="overall vault design CAD.png"/>
          <p:cNvPicPr>
            <a:picLocks noChangeAspect="1"/>
          </p:cNvPicPr>
          <p:nvPr/>
        </p:nvPicPr>
        <p:blipFill>
          <a:blip r:embed="rId6"/>
          <a:srcRect l="7105" r="7105"/>
          <a:stretch>
            <a:fillRect/>
          </a:stretch>
        </p:blipFill>
        <p:spPr>
          <a:xfrm>
            <a:off x="9573768" y="3886200"/>
            <a:ext cx="2057400" cy="1600200"/>
          </a:xfrm>
          <a:prstGeom prst="rect">
            <a:avLst/>
          </a:prstGeom>
          <a:ln w="12700">
            <a:solidFill>
              <a:srgbClr val="465A73"/>
            </a:solidFill>
          </a:ln>
        </p:spPr>
      </p:pic>
      <p:sp>
        <p:nvSpPr>
          <p:cNvPr id="30" name="Rounded Rectangle 29"/>
          <p:cNvSpPr/>
          <p:nvPr/>
        </p:nvSpPr>
        <p:spPr>
          <a:xfrm>
            <a:off x="685800" y="5541264"/>
            <a:ext cx="2057400" cy="310896"/>
          </a:xfrm>
          <a:prstGeom prst="roundRect">
            <a:avLst/>
          </a:prstGeom>
          <a:solidFill>
            <a:srgbClr val="11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5559551"/>
            <a:ext cx="1965960" cy="25603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50" b="1" i="0">
                <a:solidFill>
                  <a:srgbClr val="F5F8FC"/>
                </a:solidFill>
                <a:latin typeface="Aptos"/>
              </a:rPr>
              <a:t>Debouncing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07792" y="5541264"/>
            <a:ext cx="2057400" cy="310896"/>
          </a:xfrm>
          <a:prstGeom prst="roundRect">
            <a:avLst/>
          </a:prstGeom>
          <a:solidFill>
            <a:srgbClr val="11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953512" y="5559551"/>
            <a:ext cx="1965960" cy="25603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50" b="1" i="0">
                <a:solidFill>
                  <a:srgbClr val="F5F8FC"/>
                </a:solidFill>
                <a:latin typeface="Aptos"/>
              </a:rPr>
              <a:t>Gate-In / Gate-Out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29784" y="5541264"/>
            <a:ext cx="2057400" cy="310896"/>
          </a:xfrm>
          <a:prstGeom prst="roundRect">
            <a:avLst/>
          </a:prstGeom>
          <a:solidFill>
            <a:srgbClr val="11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175504" y="5559551"/>
            <a:ext cx="1965960" cy="25603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50" b="1" i="0">
                <a:solidFill>
                  <a:srgbClr val="F5F8FC"/>
                </a:solidFill>
                <a:latin typeface="Aptos"/>
              </a:rPr>
              <a:t>CAD exercises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51775" y="5541264"/>
            <a:ext cx="2057400" cy="310896"/>
          </a:xfrm>
          <a:prstGeom prst="roundRect">
            <a:avLst/>
          </a:prstGeom>
          <a:solidFill>
            <a:srgbClr val="11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97496" y="5559551"/>
            <a:ext cx="1965960" cy="25603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50" b="1" i="0">
                <a:solidFill>
                  <a:srgbClr val="F5F8FC"/>
                </a:solidFill>
                <a:latin typeface="Aptos"/>
              </a:rPr>
              <a:t>Physical print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73768" y="5541264"/>
            <a:ext cx="2057400" cy="310896"/>
          </a:xfrm>
          <a:prstGeom prst="roundRect">
            <a:avLst/>
          </a:prstGeom>
          <a:solidFill>
            <a:srgbClr val="11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619488" y="5559551"/>
            <a:ext cx="1965960" cy="25603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50" b="1" i="0">
                <a:solidFill>
                  <a:srgbClr val="F5F8FC"/>
                </a:solidFill>
                <a:latin typeface="Aptos"/>
              </a:rPr>
              <a:t>Vault design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473952"/>
            <a:ext cx="10424160" cy="20116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850" b="0" i="0">
                <a:solidFill>
                  <a:srgbClr val="AAB8C7"/>
                </a:solidFill>
                <a:latin typeface="Aptos"/>
              </a:rPr>
              <a:t>Mechatronic Internship at Tobotics Pvt. Ltd.  |  Parth  |  24EJCEC078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r"/>
            <a:r>
              <a:rPr sz="900" b="1" i="0">
                <a:solidFill>
                  <a:srgbClr val="AAB8C7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2800" b="1" i="0">
                <a:solidFill>
                  <a:srgbClr val="F5F8FC"/>
                </a:solidFill>
                <a:latin typeface="Aptos"/>
              </a:rPr>
              <a:t>Arduino &amp; Electronics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96112"/>
            <a:ext cx="1051560" cy="41148"/>
          </a:xfrm>
          <a:prstGeom prst="rect">
            <a:avLst/>
          </a:prstGeom>
          <a:solidFill>
            <a:srgbClr val="32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789920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150" b="0" i="0">
                <a:solidFill>
                  <a:srgbClr val="AAB8C7"/>
                </a:solidFill>
                <a:latin typeface="Aptos"/>
              </a:rPr>
              <a:t>Early exercises built the programming and interfacing foundation used later in the vault</a:t>
            </a:r>
          </a:p>
        </p:txBody>
      </p:sp>
      <p:pic>
        <p:nvPicPr>
          <p:cNvPr id="6" name="Picture 5" descr="debouncer circuit.png"/>
          <p:cNvPicPr>
            <a:picLocks noChangeAspect="1"/>
          </p:cNvPicPr>
          <p:nvPr/>
        </p:nvPicPr>
        <p:blipFill>
          <a:blip r:embed="rId2"/>
          <a:srcRect t="5987" b="5987"/>
          <a:stretch>
            <a:fillRect/>
          </a:stretch>
        </p:blipFill>
        <p:spPr>
          <a:xfrm>
            <a:off x="640080" y="1371600"/>
            <a:ext cx="4663440" cy="3063240"/>
          </a:xfrm>
          <a:prstGeom prst="rect">
            <a:avLst/>
          </a:prstGeom>
          <a:ln w="12700">
            <a:solidFill>
              <a:srgbClr val="465A73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640080" y="4507992"/>
            <a:ext cx="4663440" cy="310896"/>
          </a:xfrm>
          <a:prstGeom prst="roundRect">
            <a:avLst/>
          </a:prstGeom>
          <a:solidFill>
            <a:srgbClr val="11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4526279"/>
            <a:ext cx="4572000" cy="25603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50" b="1" i="0">
                <a:solidFill>
                  <a:srgbClr val="F5F8FC"/>
                </a:solidFill>
                <a:latin typeface="Aptos"/>
              </a:rPr>
              <a:t>Debouncing circuit</a:t>
            </a:r>
          </a:p>
        </p:txBody>
      </p:sp>
      <p:pic>
        <p:nvPicPr>
          <p:cNvPr id="9" name="Picture 8" descr="minor project gate in gate out.png"/>
          <p:cNvPicPr>
            <a:picLocks noChangeAspect="1"/>
          </p:cNvPicPr>
          <p:nvPr/>
        </p:nvPicPr>
        <p:blipFill>
          <a:blip r:embed="rId3"/>
          <a:srcRect t="14337" b="14337"/>
          <a:stretch>
            <a:fillRect/>
          </a:stretch>
        </p:blipFill>
        <p:spPr>
          <a:xfrm>
            <a:off x="5486400" y="1371600"/>
            <a:ext cx="5989320" cy="3063240"/>
          </a:xfrm>
          <a:prstGeom prst="rect">
            <a:avLst/>
          </a:prstGeom>
          <a:ln w="12700">
            <a:solidFill>
              <a:srgbClr val="465A73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5486400" y="4507992"/>
            <a:ext cx="5989320" cy="310896"/>
          </a:xfrm>
          <a:prstGeom prst="roundRect">
            <a:avLst/>
          </a:prstGeom>
          <a:solidFill>
            <a:srgbClr val="11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32120" y="4526279"/>
            <a:ext cx="5897880" cy="25603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50" b="1" i="0">
                <a:solidFill>
                  <a:srgbClr val="F5F8FC"/>
                </a:solidFill>
                <a:latin typeface="Aptos"/>
              </a:rPr>
              <a:t>Gate-In / Gate-Out project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074920"/>
            <a:ext cx="3429000" cy="914400"/>
          </a:xfrm>
          <a:prstGeom prst="roundRect">
            <a:avLst>
              <a:gd name="adj" fmla="val 0"/>
            </a:avLst>
          </a:prstGeom>
          <a:solidFill>
            <a:srgbClr val="18293E"/>
          </a:solidFill>
          <a:ln>
            <a:solidFill>
              <a:srgbClr val="2B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5074920"/>
            <a:ext cx="50292" cy="914400"/>
          </a:xfrm>
          <a:prstGeom prst="rect">
            <a:avLst/>
          </a:prstGeom>
          <a:solidFill>
            <a:srgbClr val="32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1" y="5184648"/>
            <a:ext cx="3154680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400" b="1" i="0">
                <a:solidFill>
                  <a:srgbClr val="F5F8FC"/>
                </a:solidFill>
                <a:latin typeface="Aptos"/>
              </a:rPr>
              <a:t>DEBOUNCING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5550408"/>
            <a:ext cx="315468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AAB8C7"/>
                </a:solidFill>
                <a:latin typeface="Aptos"/>
              </a:rPr>
              <a:t>Reliable handling of mechanical button/switch input.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5074920"/>
            <a:ext cx="3429000" cy="914400"/>
          </a:xfrm>
          <a:prstGeom prst="roundRect">
            <a:avLst>
              <a:gd name="adj" fmla="val 926"/>
            </a:avLst>
          </a:prstGeom>
          <a:solidFill>
            <a:srgbClr val="18293E"/>
          </a:solidFill>
          <a:ln>
            <a:solidFill>
              <a:srgbClr val="2B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51960" y="5074920"/>
            <a:ext cx="50292" cy="914400"/>
          </a:xfrm>
          <a:prstGeom prst="rect">
            <a:avLst/>
          </a:prstGeom>
          <a:solidFill>
            <a:srgbClr val="F5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16552" y="5184648"/>
            <a:ext cx="3154680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400" b="1" i="0">
                <a:solidFill>
                  <a:srgbClr val="F5F8FC"/>
                </a:solidFill>
                <a:latin typeface="Aptos"/>
              </a:rPr>
              <a:t>GATE-IN / GATE-OUT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5550408"/>
            <a:ext cx="315468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AAB8C7"/>
                </a:solidFill>
                <a:latin typeface="Aptos"/>
              </a:rPr>
              <a:t>State-based counting and automation using Arduino.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5074920"/>
            <a:ext cx="3611880" cy="914400"/>
          </a:xfrm>
          <a:prstGeom prst="roundRect">
            <a:avLst>
              <a:gd name="adj" fmla="val 0"/>
            </a:avLst>
          </a:prstGeom>
          <a:solidFill>
            <a:srgbClr val="18293E"/>
          </a:solidFill>
          <a:ln>
            <a:solidFill>
              <a:srgbClr val="2B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863840" y="5074920"/>
            <a:ext cx="50292" cy="914400"/>
          </a:xfrm>
          <a:prstGeom prst="rect">
            <a:avLst/>
          </a:prstGeom>
          <a:solidFill>
            <a:srgbClr val="4CB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28431" y="5184648"/>
            <a:ext cx="3337560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400" b="1" i="0">
                <a:solidFill>
                  <a:srgbClr val="F5F8FC"/>
                </a:solidFill>
                <a:latin typeface="Aptos"/>
              </a:rPr>
              <a:t>KEY SKILLS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28431" y="5550408"/>
            <a:ext cx="333756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AAB8C7"/>
                </a:solidFill>
                <a:latin typeface="Aptos"/>
              </a:rPr>
              <a:t>Inputs • conditions • functions • outputs •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10424160" cy="20116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850" b="0" i="0">
                <a:solidFill>
                  <a:srgbClr val="AAB8C7"/>
                </a:solidFill>
                <a:latin typeface="Aptos"/>
              </a:rPr>
              <a:t>Mechatronic Internship at Tobotics Pvt. Ltd.  |  Parth  |  24EJCEC078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r"/>
            <a:r>
              <a:rPr sz="900" b="1" i="0">
                <a:solidFill>
                  <a:srgbClr val="AAB8C7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2800" b="1" i="0">
                <a:solidFill>
                  <a:srgbClr val="F5F8FC"/>
                </a:solidFill>
                <a:latin typeface="Aptos"/>
              </a:rPr>
              <a:t>CAD &amp; 3D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96112"/>
            <a:ext cx="1051560" cy="41148"/>
          </a:xfrm>
          <a:prstGeom prst="rect">
            <a:avLst/>
          </a:prstGeom>
          <a:solidFill>
            <a:srgbClr val="32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789920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150" b="0" i="0">
                <a:solidFill>
                  <a:srgbClr val="AAB8C7"/>
                </a:solidFill>
                <a:latin typeface="Aptos"/>
              </a:rPr>
              <a:t>The training moved from simple models toward functional mechanical components and assemblies</a:t>
            </a:r>
          </a:p>
        </p:txBody>
      </p:sp>
      <p:pic>
        <p:nvPicPr>
          <p:cNvPr id="6" name="Picture 5" descr="phone holder v2 CAD.png"/>
          <p:cNvPicPr>
            <a:picLocks noChangeAspect="1"/>
          </p:cNvPicPr>
          <p:nvPr/>
        </p:nvPicPr>
        <p:blipFill>
          <a:blip r:embed="rId2"/>
          <a:srcRect t="3707" b="3707"/>
          <a:stretch>
            <a:fillRect/>
          </a:stretch>
        </p:blipFill>
        <p:spPr>
          <a:xfrm>
            <a:off x="685800" y="1417320"/>
            <a:ext cx="1600200" cy="2423160"/>
          </a:xfrm>
          <a:prstGeom prst="rect">
            <a:avLst/>
          </a:prstGeom>
          <a:ln w="12700">
            <a:solidFill>
              <a:srgbClr val="465A73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685800" y="3913632"/>
            <a:ext cx="1600200" cy="310896"/>
          </a:xfrm>
          <a:prstGeom prst="roundRect">
            <a:avLst/>
          </a:prstGeom>
          <a:solidFill>
            <a:srgbClr val="11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1508760" cy="25603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50" b="1" i="0">
                <a:solidFill>
                  <a:srgbClr val="F5F8FC"/>
                </a:solidFill>
                <a:latin typeface="Aptos"/>
              </a:rPr>
              <a:t>Phone-holder CAD</a:t>
            </a:r>
          </a:p>
        </p:txBody>
      </p:sp>
      <p:pic>
        <p:nvPicPr>
          <p:cNvPr id="9" name="Picture 8" descr="piggi bank CAD(1).png"/>
          <p:cNvPicPr>
            <a:picLocks noChangeAspect="1"/>
          </p:cNvPicPr>
          <p:nvPr/>
        </p:nvPicPr>
        <p:blipFill>
          <a:blip r:embed="rId3"/>
          <a:srcRect t="1235" b="1235"/>
          <a:stretch>
            <a:fillRect/>
          </a:stretch>
        </p:blipFill>
        <p:spPr>
          <a:xfrm>
            <a:off x="2606040" y="1417320"/>
            <a:ext cx="1600200" cy="2423160"/>
          </a:xfrm>
          <a:prstGeom prst="rect">
            <a:avLst/>
          </a:prstGeom>
          <a:ln w="12700">
            <a:solidFill>
              <a:srgbClr val="465A73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2606040" y="3913632"/>
            <a:ext cx="1600200" cy="310896"/>
          </a:xfrm>
          <a:prstGeom prst="roundRect">
            <a:avLst/>
          </a:prstGeom>
          <a:solidFill>
            <a:srgbClr val="11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51760" y="3931920"/>
            <a:ext cx="1508760" cy="25603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50" b="1" i="0">
                <a:solidFill>
                  <a:srgbClr val="F5F8FC"/>
                </a:solidFill>
                <a:latin typeface="Aptos"/>
              </a:rPr>
              <a:t>Piggy bank CAD</a:t>
            </a:r>
          </a:p>
        </p:txBody>
      </p:sp>
      <p:pic>
        <p:nvPicPr>
          <p:cNvPr id="12" name="Picture 11" descr="piston cup CAD.png"/>
          <p:cNvPicPr>
            <a:picLocks noChangeAspect="1"/>
          </p:cNvPicPr>
          <p:nvPr/>
        </p:nvPicPr>
        <p:blipFill>
          <a:blip r:embed="rId4"/>
          <a:srcRect t="1955" b="1955"/>
          <a:stretch>
            <a:fillRect/>
          </a:stretch>
        </p:blipFill>
        <p:spPr>
          <a:xfrm>
            <a:off x="4526280" y="1417320"/>
            <a:ext cx="1600200" cy="2423160"/>
          </a:xfrm>
          <a:prstGeom prst="rect">
            <a:avLst/>
          </a:prstGeom>
          <a:ln w="12700">
            <a:solidFill>
              <a:srgbClr val="465A73"/>
            </a:solidFill>
          </a:ln>
        </p:spPr>
      </p:pic>
      <p:sp>
        <p:nvSpPr>
          <p:cNvPr id="13" name="Rounded Rectangle 12"/>
          <p:cNvSpPr/>
          <p:nvPr/>
        </p:nvSpPr>
        <p:spPr>
          <a:xfrm>
            <a:off x="4526280" y="3913632"/>
            <a:ext cx="1600200" cy="310896"/>
          </a:xfrm>
          <a:prstGeom prst="roundRect">
            <a:avLst/>
          </a:prstGeom>
          <a:solidFill>
            <a:srgbClr val="11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3931920"/>
            <a:ext cx="1508760" cy="25603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50" b="1" i="0">
                <a:solidFill>
                  <a:srgbClr val="F5F8FC"/>
                </a:solidFill>
                <a:latin typeface="Aptos"/>
              </a:rPr>
              <a:t>Piston cup CAD</a:t>
            </a:r>
          </a:p>
        </p:txBody>
      </p:sp>
      <p:pic>
        <p:nvPicPr>
          <p:cNvPr id="15" name="Picture 14" descr="electronic components box CAD.png"/>
          <p:cNvPicPr>
            <a:picLocks noChangeAspect="1"/>
          </p:cNvPicPr>
          <p:nvPr/>
        </p:nvPicPr>
        <p:blipFill>
          <a:blip r:embed="rId5"/>
          <a:srcRect t="1093" b="1093"/>
          <a:stretch>
            <a:fillRect/>
          </a:stretch>
        </p:blipFill>
        <p:spPr>
          <a:xfrm>
            <a:off x="6446520" y="1417320"/>
            <a:ext cx="1600200" cy="2423160"/>
          </a:xfrm>
          <a:prstGeom prst="rect">
            <a:avLst/>
          </a:prstGeom>
          <a:ln w="12700">
            <a:solidFill>
              <a:srgbClr val="465A73"/>
            </a:solidFill>
          </a:ln>
        </p:spPr>
      </p:pic>
      <p:sp>
        <p:nvSpPr>
          <p:cNvPr id="16" name="Rounded Rectangle 15"/>
          <p:cNvSpPr/>
          <p:nvPr/>
        </p:nvSpPr>
        <p:spPr>
          <a:xfrm>
            <a:off x="6446520" y="3913632"/>
            <a:ext cx="1600200" cy="310896"/>
          </a:xfrm>
          <a:prstGeom prst="roundRect">
            <a:avLst/>
          </a:prstGeom>
          <a:solidFill>
            <a:srgbClr val="11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3931920"/>
            <a:ext cx="1508760" cy="25603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50" b="1" i="0">
                <a:solidFill>
                  <a:srgbClr val="F5F8FC"/>
                </a:solidFill>
                <a:latin typeface="Aptos"/>
              </a:rPr>
              <a:t>Component-box CAD</a:t>
            </a:r>
          </a:p>
        </p:txBody>
      </p:sp>
      <p:pic>
        <p:nvPicPr>
          <p:cNvPr id="18" name="Picture 17" descr="front panel mechanism CAD.png"/>
          <p:cNvPicPr>
            <a:picLocks noChangeAspect="1"/>
          </p:cNvPicPr>
          <p:nvPr/>
        </p:nvPicPr>
        <p:blipFill>
          <a:blip r:embed="rId6"/>
          <a:srcRect l="31525" r="31525"/>
          <a:stretch>
            <a:fillRect/>
          </a:stretch>
        </p:blipFill>
        <p:spPr>
          <a:xfrm>
            <a:off x="8366760" y="1417320"/>
            <a:ext cx="1691640" cy="2423160"/>
          </a:xfrm>
          <a:prstGeom prst="rect">
            <a:avLst/>
          </a:prstGeom>
          <a:ln w="12700">
            <a:solidFill>
              <a:srgbClr val="465A73"/>
            </a:solidFill>
          </a:ln>
        </p:spPr>
      </p:pic>
      <p:sp>
        <p:nvSpPr>
          <p:cNvPr id="19" name="Rounded Rectangle 18"/>
          <p:cNvSpPr/>
          <p:nvPr/>
        </p:nvSpPr>
        <p:spPr>
          <a:xfrm>
            <a:off x="8366760" y="3913632"/>
            <a:ext cx="1691640" cy="310896"/>
          </a:xfrm>
          <a:prstGeom prst="roundRect">
            <a:avLst/>
          </a:prstGeom>
          <a:solidFill>
            <a:srgbClr val="11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0" y="3931920"/>
            <a:ext cx="1600200" cy="25603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50" b="1" i="0">
                <a:solidFill>
                  <a:srgbClr val="F5F8FC"/>
                </a:solidFill>
                <a:latin typeface="Aptos"/>
              </a:rPr>
              <a:t>Vault front panel</a:t>
            </a:r>
          </a:p>
        </p:txBody>
      </p:sp>
      <p:pic>
        <p:nvPicPr>
          <p:cNvPr id="21" name="Picture 20" descr="overall vault design CAD.png"/>
          <p:cNvPicPr>
            <a:picLocks noChangeAspect="1"/>
          </p:cNvPicPr>
          <p:nvPr/>
        </p:nvPicPr>
        <p:blipFill>
          <a:blip r:embed="rId7"/>
          <a:srcRect l="26709" r="26709"/>
          <a:stretch>
            <a:fillRect/>
          </a:stretch>
        </p:blipFill>
        <p:spPr>
          <a:xfrm>
            <a:off x="10104120" y="1417320"/>
            <a:ext cx="1691640" cy="2423160"/>
          </a:xfrm>
          <a:prstGeom prst="rect">
            <a:avLst/>
          </a:prstGeom>
          <a:ln w="12700">
            <a:solidFill>
              <a:srgbClr val="465A73"/>
            </a:solidFill>
          </a:ln>
        </p:spPr>
      </p:pic>
      <p:sp>
        <p:nvSpPr>
          <p:cNvPr id="22" name="Rounded Rectangle 21"/>
          <p:cNvSpPr/>
          <p:nvPr/>
        </p:nvSpPr>
        <p:spPr>
          <a:xfrm>
            <a:off x="10104120" y="3913632"/>
            <a:ext cx="1691640" cy="310896"/>
          </a:xfrm>
          <a:prstGeom prst="roundRect">
            <a:avLst/>
          </a:prstGeom>
          <a:solidFill>
            <a:srgbClr val="11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149840" y="3931920"/>
            <a:ext cx="1600200" cy="25603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50" b="1" i="0">
                <a:solidFill>
                  <a:srgbClr val="F5F8FC"/>
                </a:solidFill>
                <a:latin typeface="Aptos"/>
              </a:rPr>
              <a:t>Overall vault enclosure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709160"/>
            <a:ext cx="2011680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F5F8FC"/>
                </a:solidFill>
                <a:latin typeface="Aptos"/>
              </a:rPr>
              <a:t>Design progression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102352"/>
            <a:ext cx="6400800" cy="9601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F5F8FC"/>
                </a:solidFill>
                <a:latin typeface="Aptos"/>
              </a:defRPr>
            </a:pPr>
            <a:r>
              <a:t>• Sketching and modelling → assemblies → moving mechanisms</a:t>
            </a:r>
          </a:p>
          <a:p>
            <a:pPr>
              <a:spcAft>
                <a:spcPts val="400"/>
              </a:spcAft>
              <a:defRPr sz="1350">
                <a:solidFill>
                  <a:srgbClr val="F5F8FC"/>
                </a:solidFill>
                <a:latin typeface="Aptos"/>
              </a:defRPr>
            </a:pPr>
            <a:r>
              <a:t>• Increasing focus on buildability, space and interaction between parts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800600"/>
            <a:ext cx="2651760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800" b="1" i="0">
                <a:solidFill>
                  <a:srgbClr val="F59637"/>
                </a:solidFill>
                <a:latin typeface="Aptos"/>
              </a:rPr>
              <a:t>CAD → Prototype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5257800"/>
            <a:ext cx="3383280" cy="5029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200" b="0" i="0">
                <a:solidFill>
                  <a:srgbClr val="AAB8C7"/>
                </a:solidFill>
                <a:latin typeface="Aptos"/>
              </a:rPr>
              <a:t>Digital design became the basis for physical prototyping.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73952"/>
            <a:ext cx="10424160" cy="20116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850" b="0" i="0">
                <a:solidFill>
                  <a:srgbClr val="AAB8C7"/>
                </a:solidFill>
                <a:latin typeface="Aptos"/>
              </a:rPr>
              <a:t>Mechatronic Internship at Tobotics Pvt. Ltd.  |  Parth  |  24EJCEC078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r"/>
            <a:r>
              <a:rPr sz="900" b="1" i="0">
                <a:solidFill>
                  <a:srgbClr val="AAB8C7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2800" b="1" i="0">
                <a:solidFill>
                  <a:srgbClr val="F5F8FC"/>
                </a:solidFill>
                <a:latin typeface="Aptos"/>
              </a:rPr>
              <a:t>3D Printing: Piston Cup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96112"/>
            <a:ext cx="1051560" cy="41148"/>
          </a:xfrm>
          <a:prstGeom prst="rect">
            <a:avLst/>
          </a:prstGeom>
          <a:solidFill>
            <a:srgbClr val="32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789920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150" b="0" i="0">
                <a:solidFill>
                  <a:srgbClr val="AAB8C7"/>
                </a:solidFill>
                <a:latin typeface="Aptos"/>
              </a:rPr>
              <a:t>A clear CAD-to-physical example from the training</a:t>
            </a:r>
          </a:p>
        </p:txBody>
      </p:sp>
      <p:pic>
        <p:nvPicPr>
          <p:cNvPr id="6" name="Picture 5" descr="3d printed piston cup.jpg"/>
          <p:cNvPicPr>
            <a:picLocks noChangeAspect="1"/>
          </p:cNvPicPr>
          <p:nvPr/>
        </p:nvPicPr>
        <p:blipFill>
          <a:blip r:embed="rId2"/>
          <a:srcRect t="3521" b="3521"/>
          <a:stretch>
            <a:fillRect/>
          </a:stretch>
        </p:blipFill>
        <p:spPr>
          <a:xfrm rot="5400000">
            <a:off x="1103168" y="989792"/>
            <a:ext cx="4560224" cy="5425440"/>
          </a:xfrm>
          <a:prstGeom prst="rect">
            <a:avLst/>
          </a:prstGeom>
          <a:ln w="12700">
            <a:solidFill>
              <a:srgbClr val="465A73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7452360" y="1508760"/>
            <a:ext cx="4069080" cy="1051560"/>
          </a:xfrm>
          <a:prstGeom prst="roundRect">
            <a:avLst>
              <a:gd name="adj" fmla="val 0"/>
            </a:avLst>
          </a:prstGeom>
          <a:solidFill>
            <a:srgbClr val="18293E"/>
          </a:solidFill>
          <a:ln>
            <a:solidFill>
              <a:srgbClr val="2B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52360" y="1508760"/>
            <a:ext cx="50292" cy="1051560"/>
          </a:xfrm>
          <a:prstGeom prst="rect">
            <a:avLst/>
          </a:prstGeom>
          <a:solidFill>
            <a:srgbClr val="32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16952" y="1618488"/>
            <a:ext cx="3794760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1 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6952" y="1984248"/>
            <a:ext cx="3794760" cy="484631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AB8C7"/>
                </a:solidFill>
                <a:latin typeface="Aptos"/>
              </a:rPr>
              <a:t>Modelled the piston cup in CAD.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2743200"/>
            <a:ext cx="4069080" cy="1051560"/>
          </a:xfrm>
          <a:prstGeom prst="roundRect">
            <a:avLst>
              <a:gd name="adj" fmla="val 0"/>
            </a:avLst>
          </a:prstGeom>
          <a:solidFill>
            <a:srgbClr val="18293E"/>
          </a:solidFill>
          <a:ln>
            <a:solidFill>
              <a:srgbClr val="2B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52360" y="2743200"/>
            <a:ext cx="50292" cy="1051560"/>
          </a:xfrm>
          <a:prstGeom prst="rect">
            <a:avLst/>
          </a:prstGeom>
          <a:solidFill>
            <a:srgbClr val="F5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16952" y="2852928"/>
            <a:ext cx="3794760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2  FABRICATION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3218688"/>
            <a:ext cx="3794760" cy="484631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AB8C7"/>
                </a:solidFill>
                <a:latin typeface="Aptos"/>
              </a:rPr>
              <a:t>Converted the design into a printable part and 3D printed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3977639"/>
            <a:ext cx="4069080" cy="1051560"/>
          </a:xfrm>
          <a:prstGeom prst="roundRect">
            <a:avLst>
              <a:gd name="adj" fmla="val 0"/>
            </a:avLst>
          </a:prstGeom>
          <a:solidFill>
            <a:srgbClr val="18293E"/>
          </a:solidFill>
          <a:ln>
            <a:solidFill>
              <a:srgbClr val="2B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52360" y="3977639"/>
            <a:ext cx="50292" cy="1051560"/>
          </a:xfrm>
          <a:prstGeom prst="rect">
            <a:avLst/>
          </a:prstGeom>
          <a:solidFill>
            <a:srgbClr val="4CB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16952" y="4087368"/>
            <a:ext cx="3794760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3 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6952" y="4453127"/>
            <a:ext cx="3767328" cy="37548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AAB8C7"/>
                </a:solidFill>
                <a:latin typeface="Aptos"/>
              </a:rPr>
              <a:t>Obtained a physical part and experienced the complete digital-to-physical workflow.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5394960"/>
            <a:ext cx="3913633" cy="60478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1" dirty="0">
                <a:solidFill>
                  <a:srgbClr val="AAB8C7"/>
                </a:solidFill>
                <a:latin typeface="Aptos"/>
              </a:rPr>
              <a:t>The physical print demonstrated that the CAD model was not just a drawing — it could be translated into a tangible component.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10424160" cy="20116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850" b="0" i="0">
                <a:solidFill>
                  <a:srgbClr val="AAB8C7"/>
                </a:solidFill>
                <a:latin typeface="Aptos"/>
              </a:rPr>
              <a:t>Mechatronic Internship at Tobotics Pvt. Ltd.  |  Parth  |  24EJCEC078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r"/>
            <a:r>
              <a:rPr sz="900" b="1" i="0">
                <a:solidFill>
                  <a:srgbClr val="AAB8C7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2800" b="1" i="0">
                <a:solidFill>
                  <a:srgbClr val="F5F8FC"/>
                </a:solidFill>
                <a:latin typeface="Aptos"/>
              </a:rPr>
              <a:t>Project Evolution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96112"/>
            <a:ext cx="1051560" cy="41148"/>
          </a:xfrm>
          <a:prstGeom prst="rect">
            <a:avLst/>
          </a:prstGeom>
          <a:solidFill>
            <a:srgbClr val="32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789920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150" b="0" i="0">
                <a:solidFill>
                  <a:srgbClr val="AAB8C7"/>
                </a:solidFill>
                <a:latin typeface="Aptos"/>
              </a:rPr>
              <a:t>The main project changed as mechanical complexity and practicality were evaluated</a:t>
            </a:r>
          </a:p>
        </p:txBody>
      </p:sp>
      <p:pic>
        <p:nvPicPr>
          <p:cNvPr id="6" name="Picture 5" descr="minor project or first irration art thief vault.png"/>
          <p:cNvPicPr>
            <a:picLocks noChangeAspect="1"/>
          </p:cNvPicPr>
          <p:nvPr/>
        </p:nvPicPr>
        <p:blipFill>
          <a:blip r:embed="rId2"/>
          <a:srcRect l="17417" r="17417"/>
          <a:stretch>
            <a:fillRect/>
          </a:stretch>
        </p:blipFill>
        <p:spPr>
          <a:xfrm>
            <a:off x="502920" y="1417320"/>
            <a:ext cx="2331720" cy="2743200"/>
          </a:xfrm>
          <a:prstGeom prst="rect">
            <a:avLst/>
          </a:prstGeom>
          <a:ln w="12700">
            <a:solidFill>
              <a:srgbClr val="465A73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502920" y="4279392"/>
            <a:ext cx="2331720" cy="310896"/>
          </a:xfrm>
          <a:prstGeom prst="roundRect">
            <a:avLst/>
          </a:prstGeom>
          <a:solidFill>
            <a:srgbClr val="11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4297679"/>
            <a:ext cx="2240279" cy="25603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50" b="1" i="0">
                <a:solidFill>
                  <a:srgbClr val="F5F8FC"/>
                </a:solidFill>
                <a:latin typeface="Aptos"/>
              </a:rPr>
              <a:t>Art Thief Vault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45152"/>
            <a:ext cx="2331720" cy="5029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AAB8C7"/>
                </a:solidFill>
                <a:latin typeface="Aptos"/>
              </a:rPr>
              <a:t>Initial password-guessing game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360" y="2743200"/>
            <a:ext cx="411480" cy="0"/>
          </a:xfrm>
          <a:prstGeom prst="line">
            <a:avLst/>
          </a:prstGeom>
          <a:ln w="25400">
            <a:solidFill>
              <a:srgbClr val="AAB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cyblin_refrence.png"/>
          <p:cNvPicPr>
            <a:picLocks noChangeAspect="1"/>
          </p:cNvPicPr>
          <p:nvPr/>
        </p:nvPicPr>
        <p:blipFill>
          <a:blip r:embed="rId3"/>
          <a:srcRect l="7500" r="7500"/>
          <a:stretch>
            <a:fillRect/>
          </a:stretch>
        </p:blipFill>
        <p:spPr>
          <a:xfrm>
            <a:off x="3337560" y="1417320"/>
            <a:ext cx="2331720" cy="2743200"/>
          </a:xfrm>
          <a:prstGeom prst="rect">
            <a:avLst/>
          </a:prstGeom>
          <a:ln w="12700">
            <a:solidFill>
              <a:srgbClr val="465A73"/>
            </a:solidFill>
          </a:ln>
        </p:spPr>
      </p:pic>
      <p:sp>
        <p:nvSpPr>
          <p:cNvPr id="12" name="Rounded Rectangle 11"/>
          <p:cNvSpPr/>
          <p:nvPr/>
        </p:nvSpPr>
        <p:spPr>
          <a:xfrm>
            <a:off x="3337560" y="4279392"/>
            <a:ext cx="2331720" cy="310896"/>
          </a:xfrm>
          <a:prstGeom prst="roundRect">
            <a:avLst/>
          </a:prstGeom>
          <a:solidFill>
            <a:srgbClr val="11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83279" y="4297679"/>
            <a:ext cx="2240279" cy="25603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50" b="1" i="0">
                <a:solidFill>
                  <a:srgbClr val="F5F8FC"/>
                </a:solidFill>
                <a:latin typeface="Aptos"/>
              </a:rPr>
              <a:t>Syblin Concept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4645152"/>
            <a:ext cx="2331720" cy="5029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AAB8C7"/>
                </a:solidFill>
                <a:latin typeface="Aptos"/>
              </a:rPr>
              <a:t>Monster character with moving teeth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15000" y="2743200"/>
            <a:ext cx="411480" cy="0"/>
          </a:xfrm>
          <a:prstGeom prst="line">
            <a:avLst/>
          </a:prstGeom>
          <a:ln w="25400">
            <a:solidFill>
              <a:srgbClr val="AAB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Internal_mechinism.jpg"/>
          <p:cNvPicPr>
            <a:picLocks noChangeAspect="1"/>
          </p:cNvPicPr>
          <p:nvPr/>
        </p:nvPicPr>
        <p:blipFill>
          <a:blip r:embed="rId4"/>
          <a:srcRect l="7142" r="7142"/>
          <a:stretch>
            <a:fillRect/>
          </a:stretch>
        </p:blipFill>
        <p:spPr>
          <a:xfrm>
            <a:off x="6172200" y="1417320"/>
            <a:ext cx="2331720" cy="2743200"/>
          </a:xfrm>
          <a:prstGeom prst="rect">
            <a:avLst/>
          </a:prstGeom>
          <a:ln w="12700">
            <a:solidFill>
              <a:srgbClr val="465A73"/>
            </a:solidFill>
          </a:ln>
        </p:spPr>
      </p:pic>
      <p:sp>
        <p:nvSpPr>
          <p:cNvPr id="17" name="Rounded Rectangle 16"/>
          <p:cNvSpPr/>
          <p:nvPr/>
        </p:nvSpPr>
        <p:spPr>
          <a:xfrm>
            <a:off x="6172200" y="4279392"/>
            <a:ext cx="2331720" cy="310896"/>
          </a:xfrm>
          <a:prstGeom prst="roundRect">
            <a:avLst/>
          </a:prstGeom>
          <a:solidFill>
            <a:srgbClr val="11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0" y="4297679"/>
            <a:ext cx="2240279" cy="25603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50" b="1" i="0">
                <a:solidFill>
                  <a:srgbClr val="F5F8FC"/>
                </a:solidFill>
                <a:latin typeface="Aptos"/>
              </a:rPr>
              <a:t>Mechanical Study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4645152"/>
            <a:ext cx="2331720" cy="5029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AAB8C7"/>
                </a:solidFill>
                <a:latin typeface="Aptos"/>
              </a:rPr>
              <a:t>Explored cam / follower concepts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549640" y="2743200"/>
            <a:ext cx="411479" cy="0"/>
          </a:xfrm>
          <a:prstGeom prst="line">
            <a:avLst/>
          </a:prstGeom>
          <a:ln w="25400">
            <a:solidFill>
              <a:srgbClr val="AAB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0" descr="hackabke_vault_reference.png"/>
          <p:cNvPicPr>
            <a:picLocks noChangeAspect="1"/>
          </p:cNvPicPr>
          <p:nvPr/>
        </p:nvPicPr>
        <p:blipFill>
          <a:blip r:embed="rId5"/>
          <a:srcRect l="14387" r="14387"/>
          <a:stretch>
            <a:fillRect/>
          </a:stretch>
        </p:blipFill>
        <p:spPr>
          <a:xfrm>
            <a:off x="9006840" y="1417320"/>
            <a:ext cx="2331720" cy="2743200"/>
          </a:xfrm>
          <a:prstGeom prst="rect">
            <a:avLst/>
          </a:prstGeom>
          <a:ln w="12700">
            <a:solidFill>
              <a:srgbClr val="465A73"/>
            </a:solidFill>
          </a:ln>
        </p:spPr>
      </p:pic>
      <p:sp>
        <p:nvSpPr>
          <p:cNvPr id="22" name="Rounded Rectangle 21"/>
          <p:cNvSpPr/>
          <p:nvPr/>
        </p:nvSpPr>
        <p:spPr>
          <a:xfrm>
            <a:off x="9006840" y="4279392"/>
            <a:ext cx="2331720" cy="310896"/>
          </a:xfrm>
          <a:prstGeom prst="roundRect">
            <a:avLst/>
          </a:prstGeom>
          <a:solidFill>
            <a:srgbClr val="11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52560" y="4297679"/>
            <a:ext cx="2240279" cy="25603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50" b="1" i="0">
                <a:solidFill>
                  <a:srgbClr val="F5F8FC"/>
                </a:solidFill>
                <a:latin typeface="Aptos"/>
              </a:rPr>
              <a:t>Hackable Vault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4645152"/>
            <a:ext cx="2331720" cy="5029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AAB8C7"/>
                </a:solidFill>
                <a:latin typeface="Aptos"/>
              </a:rPr>
              <a:t>Simplified integrated security-vault concept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486400"/>
            <a:ext cx="1645920" cy="2743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Design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8840" y="5358384"/>
            <a:ext cx="9144000" cy="5486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250" b="0" i="0">
                <a:solidFill>
                  <a:srgbClr val="AAB8C7"/>
                </a:solidFill>
                <a:latin typeface="Aptos"/>
              </a:rPr>
              <a:t>The project was redirected toward a more buildable vault concept while retaining the core idea of password-driven physical unlocking.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10424160" cy="20116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850" b="0" i="0">
                <a:solidFill>
                  <a:srgbClr val="AAB8C7"/>
                </a:solidFill>
                <a:latin typeface="Aptos"/>
              </a:rPr>
              <a:t>Mechatronic Internship at Tobotics Pvt. Ltd.  |  Parth  |  24EJCEC078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r"/>
            <a:r>
              <a:rPr sz="900" b="1" i="0">
                <a:solidFill>
                  <a:srgbClr val="AAB8C7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92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2800" b="1" i="0">
                <a:solidFill>
                  <a:srgbClr val="F5F8FC"/>
                </a:solidFill>
                <a:latin typeface="Aptos"/>
              </a:rPr>
              <a:t>Hackable Vault — System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96112"/>
            <a:ext cx="1051560" cy="41148"/>
          </a:xfrm>
          <a:prstGeom prst="rect">
            <a:avLst/>
          </a:prstGeom>
          <a:solidFill>
            <a:srgbClr val="32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789920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150" b="0" i="0">
                <a:solidFill>
                  <a:srgbClr val="AAB8C7"/>
                </a:solidFill>
                <a:latin typeface="Aptos"/>
              </a:rPr>
              <a:t>Electronics, software and mechanical output are connected as one user interaction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828800" cy="2743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User interaction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874519"/>
            <a:ext cx="960120" cy="960120"/>
          </a:xfrm>
          <a:prstGeom prst="ellipse">
            <a:avLst/>
          </a:prstGeom>
          <a:solidFill>
            <a:srgbClr val="32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901951"/>
            <a:ext cx="868680" cy="90525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F5F8FC"/>
                </a:solidFill>
                <a:latin typeface="Aptos"/>
              </a:rPr>
              <a:t>KEYPAD</a:t>
            </a:r>
          </a:p>
        </p:txBody>
      </p:sp>
      <p:sp>
        <p:nvSpPr>
          <p:cNvPr id="9" name="Oval 8"/>
          <p:cNvSpPr/>
          <p:nvPr/>
        </p:nvSpPr>
        <p:spPr>
          <a:xfrm>
            <a:off x="2743200" y="1874519"/>
            <a:ext cx="1051560" cy="1051560"/>
          </a:xfrm>
          <a:prstGeom prst="ellipse">
            <a:avLst/>
          </a:prstGeom>
          <a:solidFill>
            <a:srgbClr val="F5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88920" y="1901951"/>
            <a:ext cx="960119" cy="996695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Aptos"/>
              </a:rPr>
              <a:t>ARDUINO
NANO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37360" y="2350008"/>
            <a:ext cx="987552" cy="0"/>
          </a:xfrm>
          <a:prstGeom prst="line">
            <a:avLst/>
          </a:prstGeom>
          <a:ln w="25400">
            <a:solidFill>
              <a:srgbClr val="AAB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60520" y="1325880"/>
            <a:ext cx="1554480" cy="2743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Game logic</a:t>
            </a:r>
          </a:p>
        </p:txBody>
      </p:sp>
      <p:sp>
        <p:nvSpPr>
          <p:cNvPr id="13" name="Oval 12"/>
          <p:cNvSpPr/>
          <p:nvPr/>
        </p:nvSpPr>
        <p:spPr>
          <a:xfrm>
            <a:off x="4709160" y="1828800"/>
            <a:ext cx="960120" cy="960120"/>
          </a:xfrm>
          <a:prstGeom prst="ellipse">
            <a:avLst/>
          </a:prstGeom>
          <a:solidFill>
            <a:srgbClr val="32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1856231"/>
            <a:ext cx="868680" cy="90525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Aptos"/>
              </a:rPr>
              <a:t>OLED</a:t>
            </a:r>
          </a:p>
        </p:txBody>
      </p:sp>
      <p:sp>
        <p:nvSpPr>
          <p:cNvPr id="16" name="Oval 15"/>
          <p:cNvSpPr/>
          <p:nvPr/>
        </p:nvSpPr>
        <p:spPr>
          <a:xfrm>
            <a:off x="6492240" y="1828800"/>
            <a:ext cx="960120" cy="960120"/>
          </a:xfrm>
          <a:prstGeom prst="ellipse">
            <a:avLst/>
          </a:prstGeom>
          <a:solidFill>
            <a:srgbClr val="32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59" y="1856231"/>
            <a:ext cx="868680" cy="90525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Aptos"/>
              </a:rPr>
              <a:t>LED</a:t>
            </a:r>
          </a:p>
        </p:txBody>
      </p:sp>
      <p:cxnSp>
        <p:nvCxnSpPr>
          <p:cNvPr id="18" name="Connector 17"/>
          <p:cNvCxnSpPr>
            <a:cxnSpLocks/>
            <a:stCxn id="13" idx="6"/>
            <a:endCxn id="16" idx="2"/>
          </p:cNvCxnSpPr>
          <p:nvPr/>
        </p:nvCxnSpPr>
        <p:spPr>
          <a:xfrm>
            <a:off x="5669280" y="2308860"/>
            <a:ext cx="822960" cy="0"/>
          </a:xfrm>
          <a:prstGeom prst="line">
            <a:avLst/>
          </a:prstGeom>
          <a:ln w="20320">
            <a:solidFill>
              <a:srgbClr val="AAB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8275320" y="1828800"/>
            <a:ext cx="960120" cy="960120"/>
          </a:xfrm>
          <a:prstGeom prst="ellipse">
            <a:avLst/>
          </a:prstGeom>
          <a:solidFill>
            <a:srgbClr val="32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1856231"/>
            <a:ext cx="868680" cy="90525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Aptos"/>
              </a:rPr>
              <a:t>BUZZER</a:t>
            </a:r>
          </a:p>
        </p:txBody>
      </p:sp>
      <p:cxnSp>
        <p:nvCxnSpPr>
          <p:cNvPr id="21" name="Connector 20"/>
          <p:cNvCxnSpPr>
            <a:cxnSpLocks/>
            <a:stCxn id="16" idx="6"/>
            <a:endCxn id="19" idx="2"/>
          </p:cNvCxnSpPr>
          <p:nvPr/>
        </p:nvCxnSpPr>
        <p:spPr>
          <a:xfrm>
            <a:off x="7452360" y="2308860"/>
            <a:ext cx="822960" cy="0"/>
          </a:xfrm>
          <a:prstGeom prst="line">
            <a:avLst/>
          </a:prstGeom>
          <a:ln w="20320">
            <a:solidFill>
              <a:srgbClr val="AAB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10058400" y="1828800"/>
            <a:ext cx="960120" cy="960120"/>
          </a:xfrm>
          <a:prstGeom prst="ellipse">
            <a:avLst/>
          </a:prstGeom>
          <a:solidFill>
            <a:srgbClr val="4CB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104120" y="1856231"/>
            <a:ext cx="868680" cy="90525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Aptos"/>
              </a:rPr>
              <a:t>SERVO</a:t>
            </a:r>
          </a:p>
        </p:txBody>
      </p:sp>
      <p:cxnSp>
        <p:nvCxnSpPr>
          <p:cNvPr id="24" name="Connector 23"/>
          <p:cNvCxnSpPr>
            <a:cxnSpLocks/>
            <a:stCxn id="19" idx="6"/>
            <a:endCxn id="22" idx="2"/>
          </p:cNvCxnSpPr>
          <p:nvPr/>
        </p:nvCxnSpPr>
        <p:spPr>
          <a:xfrm>
            <a:off x="9235440" y="2308860"/>
            <a:ext cx="822960" cy="0"/>
          </a:xfrm>
          <a:prstGeom prst="line">
            <a:avLst/>
          </a:prstGeom>
          <a:ln w="20320">
            <a:solidFill>
              <a:srgbClr val="AAB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70560" y="3255264"/>
            <a:ext cx="5212080" cy="1508760"/>
          </a:xfrm>
          <a:prstGeom prst="roundRect">
            <a:avLst>
              <a:gd name="adj" fmla="val 393"/>
            </a:avLst>
          </a:prstGeom>
          <a:solidFill>
            <a:srgbClr val="18293E"/>
          </a:solidFill>
          <a:ln>
            <a:solidFill>
              <a:srgbClr val="2B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78180" y="3278124"/>
            <a:ext cx="50292" cy="1508760"/>
          </a:xfrm>
          <a:prstGeom prst="rect">
            <a:avLst/>
          </a:prstGeom>
          <a:solidFill>
            <a:srgbClr val="32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0392" y="3767328"/>
            <a:ext cx="4937760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600" b="1" i="0">
                <a:solidFill>
                  <a:srgbClr val="F5F8FC"/>
                </a:solidFill>
                <a:latin typeface="Aptos"/>
              </a:rPr>
              <a:t>SOFTWARE 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4133087"/>
            <a:ext cx="493776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 dirty="0">
                <a:solidFill>
                  <a:srgbClr val="AAB8C7"/>
                </a:solidFill>
                <a:latin typeface="Aptos"/>
              </a:rPr>
              <a:t>Generate / present a level → accept numerical guess → compare input → provide feedback → trigger win action → advance / reset.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40196" y="3255264"/>
            <a:ext cx="5394960" cy="1508760"/>
          </a:xfrm>
          <a:prstGeom prst="roundRect">
            <a:avLst>
              <a:gd name="adj" fmla="val 0"/>
            </a:avLst>
          </a:prstGeom>
          <a:solidFill>
            <a:srgbClr val="18293E"/>
          </a:solidFill>
          <a:ln>
            <a:solidFill>
              <a:srgbClr val="2B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42482" y="3255264"/>
            <a:ext cx="50292" cy="1508760"/>
          </a:xfrm>
          <a:prstGeom prst="rect">
            <a:avLst/>
          </a:prstGeom>
          <a:solidFill>
            <a:srgbClr val="4CB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91072" y="3767328"/>
            <a:ext cx="5120640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600" b="1" i="0" dirty="0">
                <a:solidFill>
                  <a:srgbClr val="F5F8FC"/>
                </a:solidFill>
                <a:latin typeface="Aptos"/>
              </a:rPr>
              <a:t>MECHANICAL 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1072" y="4133087"/>
            <a:ext cx="5093208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 dirty="0">
                <a:solidFill>
                  <a:srgbClr val="AAB8C7"/>
                </a:solidFill>
                <a:latin typeface="Aptos"/>
              </a:rPr>
              <a:t>A successful interaction is intended to produce physical movement through the servo-controlled front-panel and locking mechanism.</a:t>
            </a:r>
          </a:p>
        </p:txBody>
      </p:sp>
      <p:pic>
        <p:nvPicPr>
          <p:cNvPr id="33" name="Picture 32" descr="major project hackable vault wokwi elecrtonic connection.png"/>
          <p:cNvPicPr>
            <a:picLocks noChangeAspect="1"/>
          </p:cNvPicPr>
          <p:nvPr/>
        </p:nvPicPr>
        <p:blipFill>
          <a:blip r:embed="rId2"/>
          <a:srcRect t="41224" b="41224"/>
          <a:stretch>
            <a:fillRect/>
          </a:stretch>
        </p:blipFill>
        <p:spPr>
          <a:xfrm>
            <a:off x="685800" y="5102351"/>
            <a:ext cx="5212080" cy="1051561"/>
          </a:xfrm>
          <a:prstGeom prst="rect">
            <a:avLst/>
          </a:prstGeom>
          <a:ln w="12700">
            <a:solidFill>
              <a:srgbClr val="465A73"/>
            </a:solidFill>
          </a:ln>
        </p:spPr>
      </p:pic>
      <p:sp>
        <p:nvSpPr>
          <p:cNvPr id="34" name="Rounded Rectangle 33"/>
          <p:cNvSpPr/>
          <p:nvPr/>
        </p:nvSpPr>
        <p:spPr>
          <a:xfrm>
            <a:off x="685800" y="6172200"/>
            <a:ext cx="5212080" cy="310896"/>
          </a:xfrm>
          <a:prstGeom prst="roundRect">
            <a:avLst/>
          </a:prstGeom>
          <a:solidFill>
            <a:srgbClr val="11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6190488"/>
            <a:ext cx="5120640" cy="25603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50" b="1" i="0">
                <a:solidFill>
                  <a:srgbClr val="F5F8FC"/>
                </a:solidFill>
                <a:latin typeface="Aptos"/>
              </a:rPr>
              <a:t>Wokwi electronic connection</a:t>
            </a:r>
          </a:p>
        </p:txBody>
      </p:sp>
      <p:pic>
        <p:nvPicPr>
          <p:cNvPr id="36" name="Picture 35" descr="overall vault design CAD.png"/>
          <p:cNvPicPr>
            <a:picLocks noChangeAspect="1"/>
          </p:cNvPicPr>
          <p:nvPr/>
        </p:nvPicPr>
        <p:blipFill>
          <a:blip r:embed="rId3"/>
          <a:srcRect t="40093" b="40093"/>
          <a:stretch>
            <a:fillRect/>
          </a:stretch>
        </p:blipFill>
        <p:spPr>
          <a:xfrm>
            <a:off x="6153912" y="4978907"/>
            <a:ext cx="5352288" cy="1165861"/>
          </a:xfrm>
          <a:prstGeom prst="rect">
            <a:avLst/>
          </a:prstGeom>
          <a:ln w="12700">
            <a:solidFill>
              <a:srgbClr val="465A73"/>
            </a:solidFill>
          </a:ln>
        </p:spPr>
      </p:pic>
      <p:sp>
        <p:nvSpPr>
          <p:cNvPr id="37" name="Rounded Rectangle 36"/>
          <p:cNvSpPr/>
          <p:nvPr/>
        </p:nvSpPr>
        <p:spPr>
          <a:xfrm>
            <a:off x="6126480" y="6172200"/>
            <a:ext cx="5394960" cy="310896"/>
          </a:xfrm>
          <a:prstGeom prst="roundRect">
            <a:avLst/>
          </a:prstGeom>
          <a:solidFill>
            <a:srgbClr val="11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172200" y="6190488"/>
            <a:ext cx="5303520" cy="25603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50" b="1" i="0">
                <a:solidFill>
                  <a:srgbClr val="F5F8FC"/>
                </a:solidFill>
                <a:latin typeface="Aptos"/>
              </a:rPr>
              <a:t>Vault enclosure CAD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473952"/>
            <a:ext cx="10424160" cy="20116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850" b="0" i="0">
                <a:solidFill>
                  <a:srgbClr val="AAB8C7"/>
                </a:solidFill>
                <a:latin typeface="Aptos"/>
              </a:rPr>
              <a:t>Mechatronic Internship at Tobotics Pvt. Ltd.  |  Parth  |  24EJCEC078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r"/>
            <a:r>
              <a:rPr sz="900" b="1" i="0">
                <a:solidFill>
                  <a:srgbClr val="AAB8C7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2800" b="1" i="0">
                <a:solidFill>
                  <a:srgbClr val="F5F8FC"/>
                </a:solidFill>
                <a:latin typeface="Aptos"/>
              </a:rPr>
              <a:t>Hackable Vault — Mechanical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96112"/>
            <a:ext cx="1051560" cy="41148"/>
          </a:xfrm>
          <a:prstGeom prst="rect">
            <a:avLst/>
          </a:prstGeom>
          <a:solidFill>
            <a:srgbClr val="32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789920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150" b="0" i="0">
                <a:solidFill>
                  <a:srgbClr val="AAB8C7"/>
                </a:solidFill>
                <a:latin typeface="Aptos"/>
              </a:rPr>
              <a:t>CAD work focused on the front panel, cam-ring mechanism, enclosure and door/hinge studies</a:t>
            </a:r>
          </a:p>
        </p:txBody>
      </p:sp>
      <p:pic>
        <p:nvPicPr>
          <p:cNvPr id="6" name="Picture 5" descr="front panel mechanism CAD.png"/>
          <p:cNvPicPr>
            <a:picLocks noChangeAspect="1"/>
          </p:cNvPicPr>
          <p:nvPr/>
        </p:nvPicPr>
        <p:blipFill>
          <a:blip r:embed="rId2"/>
          <a:srcRect t="8861" b="8861"/>
          <a:stretch>
            <a:fillRect/>
          </a:stretch>
        </p:blipFill>
        <p:spPr>
          <a:xfrm>
            <a:off x="640080" y="1325880"/>
            <a:ext cx="5669280" cy="2468880"/>
          </a:xfrm>
          <a:prstGeom prst="rect">
            <a:avLst/>
          </a:prstGeom>
          <a:ln w="12700">
            <a:solidFill>
              <a:srgbClr val="465A73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640080" y="3840480"/>
            <a:ext cx="5669280" cy="310896"/>
          </a:xfrm>
          <a:prstGeom prst="roundRect">
            <a:avLst/>
          </a:prstGeom>
          <a:solidFill>
            <a:srgbClr val="11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3858768"/>
            <a:ext cx="5577840" cy="25603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50" b="1" i="0">
                <a:solidFill>
                  <a:srgbClr val="F5F8FC"/>
                </a:solidFill>
                <a:latin typeface="Aptos"/>
              </a:rPr>
              <a:t>Four-knob front-panel / cam-ring concept</a:t>
            </a:r>
          </a:p>
        </p:txBody>
      </p:sp>
      <p:pic>
        <p:nvPicPr>
          <p:cNvPr id="9" name="Picture 8" descr="Internal_mechinism.jpg"/>
          <p:cNvPicPr>
            <a:picLocks noChangeAspect="1"/>
          </p:cNvPicPr>
          <p:nvPr/>
        </p:nvPicPr>
        <p:blipFill>
          <a:blip r:embed="rId3"/>
          <a:srcRect l="513" r="513"/>
          <a:stretch>
            <a:fillRect/>
          </a:stretch>
        </p:blipFill>
        <p:spPr>
          <a:xfrm>
            <a:off x="6537960" y="1325880"/>
            <a:ext cx="2423160" cy="2468880"/>
          </a:xfrm>
          <a:prstGeom prst="rect">
            <a:avLst/>
          </a:prstGeom>
          <a:ln w="12700">
            <a:solidFill>
              <a:srgbClr val="465A73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6537960" y="3840480"/>
            <a:ext cx="2423160" cy="310896"/>
          </a:xfrm>
          <a:prstGeom prst="roundRect">
            <a:avLst/>
          </a:prstGeom>
          <a:solidFill>
            <a:srgbClr val="11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3858768"/>
            <a:ext cx="2331720" cy="25603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50" b="1" i="0">
                <a:solidFill>
                  <a:srgbClr val="F5F8FC"/>
                </a:solidFill>
                <a:latin typeface="Aptos"/>
              </a:rPr>
              <a:t>Internal mechanism study</a:t>
            </a:r>
          </a:p>
        </p:txBody>
      </p:sp>
      <p:pic>
        <p:nvPicPr>
          <p:cNvPr id="12" name="Picture 11" descr="overall vault design CAD.png"/>
          <p:cNvPicPr>
            <a:picLocks noChangeAspect="1"/>
          </p:cNvPicPr>
          <p:nvPr/>
        </p:nvPicPr>
        <p:blipFill>
          <a:blip r:embed="rId4"/>
          <a:srcRect l="18491" r="18491"/>
          <a:stretch>
            <a:fillRect/>
          </a:stretch>
        </p:blipFill>
        <p:spPr>
          <a:xfrm>
            <a:off x="9189720" y="1325880"/>
            <a:ext cx="2331720" cy="2468880"/>
          </a:xfrm>
          <a:prstGeom prst="rect">
            <a:avLst/>
          </a:prstGeom>
          <a:ln w="12700">
            <a:solidFill>
              <a:srgbClr val="465A73"/>
            </a:solidFill>
          </a:ln>
        </p:spPr>
      </p:pic>
      <p:sp>
        <p:nvSpPr>
          <p:cNvPr id="13" name="Rounded Rectangle 12"/>
          <p:cNvSpPr/>
          <p:nvPr/>
        </p:nvSpPr>
        <p:spPr>
          <a:xfrm>
            <a:off x="9189720" y="3840480"/>
            <a:ext cx="2331720" cy="310896"/>
          </a:xfrm>
          <a:prstGeom prst="roundRect">
            <a:avLst/>
          </a:prstGeom>
          <a:solidFill>
            <a:srgbClr val="11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35440" y="3858768"/>
            <a:ext cx="2240279" cy="25603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50" b="1" i="0">
                <a:solidFill>
                  <a:srgbClr val="F5F8FC"/>
                </a:solidFill>
                <a:latin typeface="Aptos"/>
              </a:rPr>
              <a:t>Overall enclosure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480560"/>
            <a:ext cx="2194560" cy="2743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600" b="1" i="0">
                <a:solidFill>
                  <a:srgbClr val="F5F8FC"/>
                </a:solidFill>
                <a:latin typeface="Aptos"/>
              </a:rPr>
              <a:t>Mechanical principle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983480"/>
            <a:ext cx="822960" cy="822960"/>
          </a:xfrm>
          <a:prstGeom prst="ellipse">
            <a:avLst/>
          </a:prstGeom>
          <a:solidFill>
            <a:srgbClr val="4CB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5010912"/>
            <a:ext cx="731520" cy="76809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Aptos"/>
              </a:rPr>
              <a:t>SERVO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783080" y="5394960"/>
            <a:ext cx="960120" cy="0"/>
          </a:xfrm>
          <a:prstGeom prst="line">
            <a:avLst/>
          </a:prstGeom>
          <a:ln w="25400">
            <a:solidFill>
              <a:srgbClr val="AAB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2834640" y="4983480"/>
            <a:ext cx="822960" cy="822960"/>
          </a:xfrm>
          <a:prstGeom prst="ellipse">
            <a:avLst/>
          </a:prstGeom>
          <a:solidFill>
            <a:srgbClr val="F5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80360" y="5010912"/>
            <a:ext cx="731520" cy="76809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Aptos"/>
              </a:rPr>
              <a:t>CAM
RING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703320" y="5394960"/>
            <a:ext cx="960120" cy="0"/>
          </a:xfrm>
          <a:prstGeom prst="line">
            <a:avLst/>
          </a:prstGeom>
          <a:ln w="25400">
            <a:solidFill>
              <a:srgbClr val="AAB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754880" y="4983480"/>
            <a:ext cx="914400" cy="914400"/>
          </a:xfrm>
          <a:prstGeom prst="ellipse">
            <a:avLst/>
          </a:prstGeom>
          <a:solidFill>
            <a:srgbClr val="32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00600" y="5010912"/>
            <a:ext cx="822960" cy="85953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F5F8FC"/>
                </a:solidFill>
                <a:latin typeface="Aptos"/>
              </a:rPr>
              <a:t>FOLLOWER /
KNOB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715000" y="5394960"/>
            <a:ext cx="1005840" cy="0"/>
          </a:xfrm>
          <a:prstGeom prst="line">
            <a:avLst/>
          </a:prstGeom>
          <a:ln w="25400">
            <a:solidFill>
              <a:srgbClr val="AAB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812280" y="4983480"/>
            <a:ext cx="914400" cy="914400"/>
          </a:xfrm>
          <a:prstGeom prst="ellipse">
            <a:avLst/>
          </a:prstGeom>
          <a:solidFill>
            <a:srgbClr val="4CB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0" y="5010912"/>
            <a:ext cx="822960" cy="85953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F5F8FC"/>
                </a:solidFill>
                <a:latin typeface="Aptos"/>
              </a:rPr>
              <a:t>PHYSICAL
MOVEMENT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4736592"/>
            <a:ext cx="3911600" cy="60478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 dirty="0">
                <a:solidFill>
                  <a:srgbClr val="AAB8C7"/>
                </a:solidFill>
                <a:latin typeface="Aptos"/>
              </a:rPr>
              <a:t>The design explored how a limited number of actuators could create visible mechanical movement while fitting inside the enclosure.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73952"/>
            <a:ext cx="10424160" cy="20116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850" b="0" i="0">
                <a:solidFill>
                  <a:srgbClr val="AAB8C7"/>
                </a:solidFill>
                <a:latin typeface="Aptos"/>
              </a:rPr>
              <a:t>Mechatronic Internship at Tobotics Pvt. Ltd.  |  Parth  |  24EJCEC078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r"/>
            <a:r>
              <a:rPr sz="900" b="1" i="0">
                <a:solidFill>
                  <a:srgbClr val="AAB8C7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2800" b="1" i="0">
                <a:solidFill>
                  <a:srgbClr val="F5F8FC"/>
                </a:solidFill>
                <a:latin typeface="Aptos"/>
              </a:rPr>
              <a:t>Results, Challenges &amp;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96112"/>
            <a:ext cx="1051560" cy="41148"/>
          </a:xfrm>
          <a:prstGeom prst="rect">
            <a:avLst/>
          </a:prstGeom>
          <a:solidFill>
            <a:srgbClr val="32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789920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150" b="0" i="0">
                <a:solidFill>
                  <a:srgbClr val="AAB8C7"/>
                </a:solidFill>
                <a:latin typeface="Aptos"/>
              </a:rPr>
              <a:t>The training produced working exercises and substantially developed project designs, while leaving clear integration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566160" cy="4297680"/>
          </a:xfrm>
          <a:prstGeom prst="roundRect">
            <a:avLst>
              <a:gd name="adj" fmla="val 0"/>
            </a:avLst>
          </a:prstGeom>
          <a:solidFill>
            <a:srgbClr val="18293E"/>
          </a:solidFill>
          <a:ln>
            <a:solidFill>
              <a:srgbClr val="2B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50292" cy="4297680"/>
          </a:xfrm>
          <a:prstGeom prst="rect">
            <a:avLst/>
          </a:prstGeom>
          <a:solidFill>
            <a:srgbClr val="4CB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435607"/>
            <a:ext cx="3291840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F5F8FC"/>
                </a:solidFill>
                <a:latin typeface="Aptos"/>
              </a:rPr>
              <a:t>ACHIEVED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801368"/>
            <a:ext cx="3291840" cy="373075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0" i="0" dirty="0">
                <a:solidFill>
                  <a:srgbClr val="AAB8C7"/>
                </a:solidFill>
                <a:latin typeface="Aptos"/>
              </a:rPr>
              <a:t>• Arduino programming and interfacing
• Simulation of the first vault electronics
• CAD models and mechanical studies
• 3D-printed piston cup
• Hackable Vault front-panel and enclosure design
• Integrated system concept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325880"/>
            <a:ext cx="3566160" cy="4297680"/>
          </a:xfrm>
          <a:prstGeom prst="roundRect">
            <a:avLst>
              <a:gd name="adj" fmla="val 0"/>
            </a:avLst>
          </a:prstGeom>
          <a:solidFill>
            <a:srgbClr val="18293E"/>
          </a:solidFill>
          <a:ln>
            <a:solidFill>
              <a:srgbClr val="2B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15968" y="1325880"/>
            <a:ext cx="50292" cy="4297680"/>
          </a:xfrm>
          <a:prstGeom prst="rect">
            <a:avLst/>
          </a:prstGeom>
          <a:solidFill>
            <a:srgbClr val="F5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59" y="1435607"/>
            <a:ext cx="3291840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F5F8FC"/>
                </a:solidFill>
                <a:latin typeface="Aptos"/>
              </a:rPr>
              <a:t>CHALLENGES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1801368"/>
            <a:ext cx="3224108" cy="22529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AAB8C7"/>
                </a:solidFill>
                <a:latin typeface="Aptos"/>
              </a:rPr>
              <a:t>• Mechanical complexity
• Limited internal space
• Servo and mechanism constraints
• Alignment and fabrication considerations
• Balancing visual appeal with buildability
• Full software/mechanical integration remained unfinished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7575" y="1325880"/>
            <a:ext cx="3566160" cy="4297680"/>
          </a:xfrm>
          <a:prstGeom prst="roundRect">
            <a:avLst>
              <a:gd name="adj" fmla="val 48"/>
            </a:avLst>
          </a:prstGeom>
          <a:solidFill>
            <a:srgbClr val="18293E"/>
          </a:solidFill>
          <a:ln>
            <a:solidFill>
              <a:srgbClr val="2B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37575" y="1325880"/>
            <a:ext cx="50292" cy="4297680"/>
          </a:xfrm>
          <a:prstGeom prst="rect">
            <a:avLst/>
          </a:prstGeom>
          <a:solidFill>
            <a:srgbClr val="32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02167" y="1435607"/>
            <a:ext cx="3291840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F5F8FC"/>
                </a:solidFill>
                <a:latin typeface="Aptos"/>
              </a:rPr>
              <a:t>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7" y="1801368"/>
            <a:ext cx="3182113" cy="22529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AAB8C7"/>
                </a:solidFill>
                <a:latin typeface="Aptos"/>
              </a:rPr>
              <a:t>• Prototyping and debugging
• Electronic interfacing
• CAD and 3D modelling
• CAD-to-physical workflow
• Design iteration and problem solving
• Thinking about electronics and mechanics as one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897880"/>
            <a:ext cx="9966960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250" b="1" i="0">
                <a:solidFill>
                  <a:srgbClr val="F5F8FC"/>
                </a:solidFill>
                <a:latin typeface="Aptos"/>
              </a:rPr>
              <a:t>Current status: development-stage prototype/design with clear scope for further implementation and validation.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10424160" cy="20116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850" b="0" i="0">
                <a:solidFill>
                  <a:srgbClr val="AAB8C7"/>
                </a:solidFill>
                <a:latin typeface="Aptos"/>
              </a:rPr>
              <a:t>Mechatronic Internship at Tobotics Pvt. Ltd.  |  Parth  |  24EJCEC078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r"/>
            <a:r>
              <a:rPr sz="900" b="1" i="0">
                <a:solidFill>
                  <a:srgbClr val="AAB8C7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743200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400" b="1" i="0">
                <a:solidFill>
                  <a:srgbClr val="32C8DC"/>
                </a:solidFill>
                <a:latin typeface="Aptos"/>
              </a:rPr>
              <a:t>KEY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8046720" cy="65836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3100" b="1" i="0">
                <a:solidFill>
                  <a:srgbClr val="F5F8FC"/>
                </a:solidFill>
                <a:latin typeface="Aptos"/>
              </a:rPr>
              <a:t>From electronics to mechatronic prototyping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2240280"/>
            <a:ext cx="1143000" cy="1143000"/>
          </a:xfrm>
          <a:prstGeom prst="ellipse">
            <a:avLst/>
          </a:prstGeom>
          <a:solidFill>
            <a:srgbClr val="32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267712"/>
            <a:ext cx="1051560" cy="108813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F5F8FC"/>
                </a:solidFill>
                <a:latin typeface="Aptos"/>
              </a:rPr>
              <a:t>Arduino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47672" y="2816352"/>
            <a:ext cx="402336" cy="0"/>
          </a:xfrm>
          <a:prstGeom prst="line">
            <a:avLst/>
          </a:prstGeom>
          <a:ln w="19050">
            <a:solidFill>
              <a:srgbClr val="AAB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624328" y="2240280"/>
            <a:ext cx="1143000" cy="1143000"/>
          </a:xfrm>
          <a:prstGeom prst="ellipse">
            <a:avLst/>
          </a:prstGeom>
          <a:solidFill>
            <a:srgbClr val="32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70048" y="2267712"/>
            <a:ext cx="1051560" cy="108813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F5F8FC"/>
                </a:solidFill>
                <a:latin typeface="Aptos"/>
              </a:rPr>
              <a:t>Electronics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94760" y="2816352"/>
            <a:ext cx="402336" cy="0"/>
          </a:xfrm>
          <a:prstGeom prst="line">
            <a:avLst/>
          </a:prstGeom>
          <a:ln w="19050">
            <a:solidFill>
              <a:srgbClr val="AAB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471416" y="2240280"/>
            <a:ext cx="1143000" cy="1143000"/>
          </a:xfrm>
          <a:prstGeom prst="ellipse">
            <a:avLst/>
          </a:prstGeom>
          <a:solidFill>
            <a:srgbClr val="F5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17136" y="2267712"/>
            <a:ext cx="1051560" cy="108813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F5F8FC"/>
                </a:solidFill>
                <a:latin typeface="Aptos"/>
              </a:rPr>
              <a:t>Programming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41848" y="2816352"/>
            <a:ext cx="402336" cy="0"/>
          </a:xfrm>
          <a:prstGeom prst="line">
            <a:avLst/>
          </a:prstGeom>
          <a:ln w="19050">
            <a:solidFill>
              <a:srgbClr val="AAB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318504" y="2240280"/>
            <a:ext cx="1143000" cy="1143000"/>
          </a:xfrm>
          <a:prstGeom prst="ellipse">
            <a:avLst/>
          </a:prstGeom>
          <a:solidFill>
            <a:srgbClr val="F5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4224" y="2267712"/>
            <a:ext cx="1051560" cy="108813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F5F8FC"/>
                </a:solidFill>
                <a:latin typeface="Aptos"/>
              </a:rPr>
              <a:t>CAD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488936" y="2816352"/>
            <a:ext cx="402336" cy="0"/>
          </a:xfrm>
          <a:prstGeom prst="line">
            <a:avLst/>
          </a:prstGeom>
          <a:ln w="19050">
            <a:solidFill>
              <a:srgbClr val="AAB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8165592" y="2240280"/>
            <a:ext cx="1143000" cy="1143000"/>
          </a:xfrm>
          <a:prstGeom prst="ellipse">
            <a:avLst/>
          </a:prstGeom>
          <a:solidFill>
            <a:srgbClr val="4CB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11312" y="2267712"/>
            <a:ext cx="1051560" cy="108813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F5F8FC"/>
                </a:solidFill>
                <a:latin typeface="Aptos"/>
              </a:rPr>
              <a:t>3D Printing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336024" y="2816352"/>
            <a:ext cx="402336" cy="0"/>
          </a:xfrm>
          <a:prstGeom prst="line">
            <a:avLst/>
          </a:prstGeom>
          <a:ln w="19050">
            <a:solidFill>
              <a:srgbClr val="AAB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0012680" y="2240280"/>
            <a:ext cx="1143000" cy="1143000"/>
          </a:xfrm>
          <a:prstGeom prst="ellipse">
            <a:avLst/>
          </a:prstGeom>
          <a:solidFill>
            <a:srgbClr val="4CB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0" y="2267712"/>
            <a:ext cx="1051560" cy="108813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F5F8FC"/>
                </a:solidFill>
                <a:latin typeface="Aptos"/>
              </a:rPr>
              <a:t>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083104"/>
            <a:ext cx="10332720" cy="566309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0" i="0" dirty="0">
                <a:solidFill>
                  <a:srgbClr val="EBF1F7"/>
                </a:solidFill>
                <a:latin typeface="Aptos"/>
              </a:rPr>
              <a:t>The training connected classroom concepts with practical development — writing code, testing circuits, modelling mechanisms, printing parts and iterating toward an integrated project.</a:t>
            </a:r>
          </a:p>
        </p:txBody>
      </p:sp>
      <p:pic>
        <p:nvPicPr>
          <p:cNvPr id="23" name="Picture 22" descr="tobotics_internship_certificate.png"/>
          <p:cNvPicPr>
            <a:picLocks noChangeAspect="1"/>
          </p:cNvPicPr>
          <p:nvPr/>
        </p:nvPicPr>
        <p:blipFill>
          <a:blip r:embed="rId2"/>
          <a:srcRect t="20752" b="20752"/>
          <a:stretch>
            <a:fillRect/>
          </a:stretch>
        </p:blipFill>
        <p:spPr>
          <a:xfrm>
            <a:off x="777239" y="4983480"/>
            <a:ext cx="3549227" cy="1051560"/>
          </a:xfrm>
          <a:prstGeom prst="rect">
            <a:avLst/>
          </a:prstGeom>
          <a:ln w="12700">
            <a:solidFill>
              <a:srgbClr val="465A73"/>
            </a:solidFill>
          </a:ln>
        </p:spPr>
      </p:pic>
      <p:sp>
        <p:nvSpPr>
          <p:cNvPr id="26" name="TextBox 25"/>
          <p:cNvSpPr txBox="1"/>
          <p:nvPr/>
        </p:nvSpPr>
        <p:spPr>
          <a:xfrm>
            <a:off x="9555480" y="5074920"/>
            <a:ext cx="1920240" cy="5029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2300" b="1" i="0" dirty="0">
                <a:solidFill>
                  <a:srgbClr val="F59637"/>
                </a:solidFill>
                <a:latin typeface="Aptos"/>
              </a:rPr>
              <a:t>THANK YOU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5577840"/>
            <a:ext cx="2103120" cy="5943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AAB8C7"/>
                </a:solidFill>
                <a:latin typeface="Aptos"/>
              </a:rPr>
              <a:t>Parth  •  24EJCEC078
B.Tech. ECE  •  JECRC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73952"/>
            <a:ext cx="10424160" cy="20116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850" b="0" i="0">
                <a:solidFill>
                  <a:srgbClr val="AAB8C7"/>
                </a:solidFill>
                <a:latin typeface="Aptos"/>
              </a:rPr>
              <a:t>Mechatronic Internship at Tobotics Pvt. Ltd.  |  Parth  |  24EJCEC078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r"/>
            <a:r>
              <a:rPr sz="900" b="1" i="0">
                <a:solidFill>
                  <a:srgbClr val="AAB8C7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2097</TotalTime>
  <Words>953</Words>
  <Application>Microsoft Office PowerPoint</Application>
  <PresentationFormat>Widescreen</PresentationFormat>
  <Paragraphs>153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Parth Rohilla</cp:lastModifiedBy>
  <cp:revision>3</cp:revision>
  <dcterms:created xsi:type="dcterms:W3CDTF">2013-01-27T09:14:16Z</dcterms:created>
  <dcterms:modified xsi:type="dcterms:W3CDTF">2026-09-20T17:28:07Z</dcterms:modified>
  <cp:category/>
</cp:coreProperties>
</file>